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sldIdLst>
    <p:sldId id="268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02" d="100"/>
          <a:sy n="102" d="100"/>
        </p:scale>
        <p:origin x="160" y="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3255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358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5336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sz="2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26720" y="97537"/>
            <a:ext cx="113385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219170"/>
            <a:r>
              <a:rPr sz="2800" b="1">
                <a:solidFill>
                  <a:srgbClr val="FFFFFF"/>
                </a:solidFill>
                <a:latin typeface="Microsoft YaHei"/>
              </a:rPr>
              <a:t>03  已完成工作 — 理论模型构建与 MCMC 迭代流程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304801" y="1011936"/>
            <a:ext cx="5303519" cy="5669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sz="2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04801" y="1011936"/>
            <a:ext cx="5303519" cy="609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sz="2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87681" y="1109471"/>
            <a:ext cx="50596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219170"/>
            <a:r>
              <a:rPr sz="1600" b="1">
                <a:solidFill>
                  <a:srgbClr val="1A2B5E"/>
                </a:solidFill>
                <a:latin typeface="Microsoft YaHei"/>
              </a:rPr>
              <a:t>📐  状态空间模型框架</a:t>
            </a:r>
          </a:p>
        </p:txBody>
      </p:sp>
      <p:sp>
        <p:nvSpPr>
          <p:cNvPr id="7" name="Oval 6"/>
          <p:cNvSpPr/>
          <p:nvPr/>
        </p:nvSpPr>
        <p:spPr>
          <a:xfrm>
            <a:off x="487680" y="1597152"/>
            <a:ext cx="316992" cy="316992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sz="2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7680" y="1597152"/>
            <a:ext cx="316992" cy="297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219170"/>
            <a:r>
              <a:rPr sz="1333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0017" y="1597153"/>
            <a:ext cx="45719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219170"/>
            <a:r>
              <a:rPr sz="1400" b="1">
                <a:solidFill>
                  <a:srgbClr val="1A2B5E"/>
                </a:solidFill>
                <a:latin typeface="Microsoft YaHei"/>
              </a:rPr>
              <a:t>观测方程（泊松似然）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890017" y="1962913"/>
                <a:ext cx="4571999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121917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sz="1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1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| </m:t>
                      </m:r>
                      <m:sSub>
                        <m:sSubPr>
                          <m:ctrlPr>
                            <a:rPr lang="en-US" altLang="zh-CN" sz="1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1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1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CN" sz="1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sz="1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1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altLang="zh-CN" sz="1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1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altLang="zh-CN" sz="1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𝑃𝑜𝑖𝑠𝑠𝑜𝑛</m:t>
                      </m:r>
                      <m:r>
                        <a:rPr lang="en-US" altLang="zh-CN" sz="1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1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1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1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4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en-US" altLang="zh-CN" sz="1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1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1400" i="1" dirty="0">
                  <a:solidFill>
                    <a:prstClr val="black"/>
                  </a:solidFill>
                  <a:latin typeface="微软雅黑" panose="020B0503020204020204" pitchFamily="34" charset="-122"/>
                  <a:ea typeface="等线" panose="02010600030101010101" pitchFamily="2" charset="-122"/>
                </a:endParaRPr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017" y="1962913"/>
                <a:ext cx="4571999" cy="307777"/>
              </a:xfrm>
              <a:prstGeom prst="rect">
                <a:avLst/>
              </a:prstGeom>
              <a:blipFill>
                <a:blip r:embed="rId2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890017" y="2279905"/>
                <a:ext cx="457199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1219170"/>
                <a:r>
                  <a:rPr lang="en-US" altLang="zh-CN" sz="1200" i="1" dirty="0">
                    <a:solidFill>
                      <a:srgbClr val="1E2A3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0"/>
                  </a:rPr>
                  <a:t>其中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 dirty="0">
                            <a:solidFill>
                              <a:srgbClr val="1E2A3A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微软雅黑" panose="020B0503020204020204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200" dirty="0">
                            <a:solidFill>
                              <a:srgbClr val="1E2A3A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微软雅黑" panose="020B0503020204020204" pitchFamily="34" charset="-120"/>
                          </a:rPr>
                          <m:t>Λ</m:t>
                        </m:r>
                      </m:e>
                      <m:sub>
                        <m:r>
                          <a:rPr lang="en-US" altLang="zh-CN" sz="1200" i="1" dirty="0">
                            <a:solidFill>
                              <a:srgbClr val="1E2A3A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微软雅黑" panose="020B0503020204020204" pitchFamily="34" charset="-120"/>
                          </a:rPr>
                          <m:t>𝑡</m:t>
                        </m:r>
                      </m:sub>
                    </m:sSub>
                    <m:r>
                      <a:rPr lang="en-US" altLang="zh-CN" sz="1200" i="1" dirty="0">
                        <a:solidFill>
                          <a:srgbClr val="1E2A3A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微软雅黑" panose="020B0503020204020204" pitchFamily="34" charset="-120"/>
                      </a:rPr>
                      <m:t>= </m:t>
                    </m:r>
                    <m:r>
                      <m:rPr>
                        <m:sty m:val="p"/>
                      </m:rPr>
                      <a:rPr lang="en-US" altLang="zh-CN" sz="1200" dirty="0">
                        <a:solidFill>
                          <a:srgbClr val="1E2A3A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微软雅黑" panose="020B0503020204020204" pitchFamily="34" charset="-120"/>
                      </a:rPr>
                      <m:t>Σ</m:t>
                    </m:r>
                    <m:r>
                      <a:rPr lang="en-US" altLang="zh-CN" sz="1200" i="1" dirty="0">
                        <a:solidFill>
                          <a:srgbClr val="1E2A3A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微软雅黑" panose="020B0503020204020204" pitchFamily="34" charset="-120"/>
                      </a:rPr>
                      <m:t> </m:t>
                    </m:r>
                    <m:sSub>
                      <m:sSubPr>
                        <m:ctrlPr>
                          <a:rPr lang="en-US" altLang="zh-CN" sz="1200" i="1" dirty="0">
                            <a:solidFill>
                              <a:srgbClr val="1E2A3A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微软雅黑" panose="020B0503020204020204" pitchFamily="34" charset="-120"/>
                          </a:rPr>
                        </m:ctrlPr>
                      </m:sSubPr>
                      <m:e>
                        <m:r>
                          <a:rPr lang="en-US" altLang="zh-CN" sz="1200" i="1" dirty="0">
                            <a:solidFill>
                              <a:srgbClr val="1E2A3A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微软雅黑" panose="020B0503020204020204" pitchFamily="34" charset="-120"/>
                          </a:rPr>
                          <m:t>𝐼</m:t>
                        </m:r>
                      </m:e>
                      <m:sub>
                        <m:r>
                          <a:rPr lang="en-US" altLang="zh-CN" sz="1200" i="1" dirty="0">
                            <a:solidFill>
                              <a:srgbClr val="1E2A3A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微软雅黑" panose="020B0503020204020204" pitchFamily="34" charset="-120"/>
                          </a:rPr>
                          <m:t>𝑡</m:t>
                        </m:r>
                        <m:r>
                          <a:rPr lang="en-US" altLang="zh-CN" sz="1200" i="1" dirty="0">
                            <a:solidFill>
                              <a:srgbClr val="1E2A3A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微软雅黑" panose="020B0503020204020204" pitchFamily="34" charset="-120"/>
                          </a:rPr>
                          <m:t>−</m:t>
                        </m:r>
                        <m:r>
                          <a:rPr lang="en-US" altLang="zh-CN" sz="1200" i="1" dirty="0">
                            <a:solidFill>
                              <a:srgbClr val="1E2A3A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微软雅黑" panose="020B0503020204020204" pitchFamily="34" charset="-120"/>
                          </a:rPr>
                          <m:t>𝑠</m:t>
                        </m:r>
                      </m:sub>
                    </m:sSub>
                    <m:r>
                      <a:rPr lang="en-US" altLang="zh-CN" sz="1200" i="1" dirty="0">
                        <a:solidFill>
                          <a:srgbClr val="1E2A3A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微软雅黑" panose="020B0503020204020204" pitchFamily="34" charset="-120"/>
                      </a:rPr>
                      <m:t>·</m:t>
                    </m:r>
                    <m:sSub>
                      <m:sSubPr>
                        <m:ctrlPr>
                          <a:rPr lang="en-US" altLang="zh-CN" sz="1200" i="1" dirty="0">
                            <a:solidFill>
                              <a:srgbClr val="1E2A3A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微软雅黑" panose="020B0503020204020204" pitchFamily="34" charset="-120"/>
                          </a:rPr>
                        </m:ctrlPr>
                      </m:sSubPr>
                      <m:e>
                        <m:r>
                          <a:rPr lang="en-US" altLang="zh-CN" sz="1200" i="1" dirty="0">
                            <a:solidFill>
                              <a:srgbClr val="1E2A3A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微软雅黑" panose="020B0503020204020204" pitchFamily="34" charset="-120"/>
                          </a:rPr>
                          <m:t>𝜔</m:t>
                        </m:r>
                      </m:e>
                      <m:sub>
                        <m:r>
                          <a:rPr lang="en-US" altLang="zh-CN" sz="1200" i="1" dirty="0">
                            <a:solidFill>
                              <a:srgbClr val="1E2A3A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微软雅黑" panose="020B0503020204020204" pitchFamily="34" charset="-120"/>
                          </a:rPr>
                          <m:t>𝑠</m:t>
                        </m:r>
                      </m:sub>
                    </m:sSub>
                    <m:r>
                      <a:rPr lang="en-US" altLang="zh-CN" sz="1200" i="1" dirty="0">
                        <a:solidFill>
                          <a:srgbClr val="1E2A3A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微软雅黑" panose="020B0503020204020204" pitchFamily="34" charset="-120"/>
                      </a:rPr>
                      <m:t> </m:t>
                    </m:r>
                  </m:oMath>
                </a14:m>
                <a:r>
                  <a:rPr lang="en-US" altLang="zh-CN" sz="1200" i="1" dirty="0">
                    <a:solidFill>
                      <a:srgbClr val="1E2A3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0"/>
                  </a:rPr>
                  <a:t>为历史发病的加权卷积（传染力）</a:t>
                </a:r>
                <a:endParaRPr lang="en-US" altLang="zh-CN" sz="1200" dirty="0">
                  <a:solidFill>
                    <a:prstClr val="black"/>
                  </a:solidFill>
                  <a:latin typeface="Calibri"/>
                  <a:ea typeface="等线" panose="02010600030101010101" pitchFamily="2" charset="-122"/>
                </a:endParaRPr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017" y="2279905"/>
                <a:ext cx="4571999" cy="276999"/>
              </a:xfrm>
              <a:prstGeom prst="rect">
                <a:avLst/>
              </a:prstGeom>
              <a:blipFill>
                <a:blip r:embed="rId3"/>
                <a:stretch>
                  <a:fillRect b="-17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/>
          <p:cNvSpPr/>
          <p:nvPr/>
        </p:nvSpPr>
        <p:spPr>
          <a:xfrm>
            <a:off x="487680" y="2645664"/>
            <a:ext cx="4937760" cy="12192"/>
          </a:xfrm>
          <a:prstGeom prst="rect">
            <a:avLst/>
          </a:prstGeom>
          <a:solidFill>
            <a:srgbClr val="D1D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sz="2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487680" y="2779775"/>
            <a:ext cx="316992" cy="316992"/>
          </a:xfrm>
          <a:prstGeom prst="ellipse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sz="2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7680" y="2779775"/>
            <a:ext cx="316992" cy="297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219170"/>
            <a:r>
              <a:rPr sz="1333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0017" y="2779776"/>
            <a:ext cx="45719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219170"/>
            <a:r>
              <a:rPr sz="1400" b="1">
                <a:solidFill>
                  <a:srgbClr val="1A2B5E"/>
                </a:solidFill>
                <a:latin typeface="Microsoft YaHei"/>
              </a:rPr>
              <a:t>状态方程（对数随机游走）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890017" y="3145537"/>
                <a:ext cx="4571999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121917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1400" i="1" dirty="0">
                              <a:solidFill>
                                <a:srgbClr val="1E2A3A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微软雅黑" panose="020B0503020204020204" pitchFamily="34" charset="-12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400" dirty="0">
                              <a:solidFill>
                                <a:srgbClr val="1E2A3A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微软雅黑" panose="020B0503020204020204" pitchFamily="34" charset="-12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zh-CN" sz="1400" i="1" dirty="0">
                                  <a:solidFill>
                                    <a:srgbClr val="1E2A3A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微软雅黑" panose="020B0503020204020204" pitchFamily="34" charset="-12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 dirty="0">
                                  <a:solidFill>
                                    <a:srgbClr val="1E2A3A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微软雅黑" panose="020B0503020204020204" pitchFamily="34" charset="-12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1400" i="1" dirty="0">
                                  <a:solidFill>
                                    <a:srgbClr val="1E2A3A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微软雅黑" panose="020B0503020204020204" pitchFamily="34" charset="-120"/>
                                </a:rPr>
                                <m:t>𝑡</m:t>
                              </m:r>
                            </m:sub>
                          </m:sSub>
                        </m:e>
                      </m:func>
                      <m:r>
                        <a:rPr lang="en-US" altLang="zh-CN" sz="1400" i="1" dirty="0">
                          <a:solidFill>
                            <a:srgbClr val="1E2A3A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m:t> =</m:t>
                      </m:r>
                      <m:func>
                        <m:funcPr>
                          <m:ctrlPr>
                            <a:rPr lang="en-US" altLang="zh-CN" sz="1400" i="1" dirty="0">
                              <a:solidFill>
                                <a:srgbClr val="1E2A3A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微软雅黑" panose="020B0503020204020204" pitchFamily="34" charset="-12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400" dirty="0">
                              <a:solidFill>
                                <a:srgbClr val="1E2A3A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微软雅黑" panose="020B0503020204020204" pitchFamily="34" charset="-12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zh-CN" sz="1400" i="1" dirty="0">
                                  <a:solidFill>
                                    <a:srgbClr val="1E2A3A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微软雅黑" panose="020B0503020204020204" pitchFamily="34" charset="-12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 dirty="0">
                                  <a:solidFill>
                                    <a:srgbClr val="1E2A3A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微软雅黑" panose="020B0503020204020204" pitchFamily="34" charset="-12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1400" i="1" dirty="0">
                                  <a:solidFill>
                                    <a:srgbClr val="1E2A3A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微软雅黑" panose="020B0503020204020204" pitchFamily="34" charset="-120"/>
                                </a:rPr>
                                <m:t>𝑡</m:t>
                              </m:r>
                              <m:r>
                                <a:rPr lang="en-US" altLang="zh-CN" sz="1400" i="1" dirty="0">
                                  <a:solidFill>
                                    <a:srgbClr val="1E2A3A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微软雅黑" panose="020B0503020204020204" pitchFamily="34" charset="-120"/>
                                </a:rPr>
                                <m:t>−</m:t>
                              </m:r>
                              <m:r>
                                <a:rPr lang="en-US" altLang="zh-CN" sz="1400" i="1" dirty="0">
                                  <a:solidFill>
                                    <a:srgbClr val="1E2A3A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微软雅黑" panose="020B0503020204020204" pitchFamily="34" charset="-120"/>
                                </a:rPr>
                                <m:t>1</m:t>
                              </m:r>
                            </m:sub>
                          </m:sSub>
                        </m:e>
                      </m:func>
                      <m:r>
                        <a:rPr lang="en-US" altLang="zh-CN" sz="1400" i="1" dirty="0">
                          <a:solidFill>
                            <a:srgbClr val="1E2A3A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m:t> + </m:t>
                      </m:r>
                      <m:sSub>
                        <m:sSubPr>
                          <m:ctrlPr>
                            <a:rPr lang="en-US" altLang="zh-CN" sz="1400" i="1" dirty="0">
                              <a:solidFill>
                                <a:srgbClr val="1E2A3A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微软雅黑" panose="020B0503020204020204" pitchFamily="34" charset="-120"/>
                            </a:rPr>
                          </m:ctrlPr>
                        </m:sSubPr>
                        <m:e>
                          <m:r>
                            <a:rPr lang="en-US" altLang="zh-CN" sz="1400" i="1" dirty="0">
                              <a:solidFill>
                                <a:srgbClr val="1E2A3A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微软雅黑" panose="020B0503020204020204" pitchFamily="34" charset="-120"/>
                            </a:rPr>
                            <m:t>𝜀</m:t>
                          </m:r>
                        </m:e>
                        <m:sub>
                          <m:r>
                            <a:rPr lang="en-US" altLang="zh-CN" sz="1400" i="1" dirty="0">
                              <a:solidFill>
                                <a:srgbClr val="1E2A3A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微软雅黑" panose="020B0503020204020204" pitchFamily="34" charset="-120"/>
                            </a:rPr>
                            <m:t>𝑡</m:t>
                          </m:r>
                        </m:sub>
                      </m:sSub>
                      <m:r>
                        <a:rPr lang="en-US" altLang="zh-CN" sz="1400" i="1" dirty="0">
                          <a:solidFill>
                            <a:srgbClr val="1E2A3A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m:t>，</m:t>
                      </m:r>
                      <m:sSub>
                        <m:sSubPr>
                          <m:ctrlPr>
                            <a:rPr lang="en-US" altLang="zh-CN" sz="1400" i="1" dirty="0">
                              <a:solidFill>
                                <a:srgbClr val="1E2A3A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微软雅黑" panose="020B0503020204020204" pitchFamily="34" charset="-120"/>
                            </a:rPr>
                          </m:ctrlPr>
                        </m:sSubPr>
                        <m:e>
                          <m:r>
                            <a:rPr lang="en-US" altLang="zh-CN" sz="1400" i="1" dirty="0">
                              <a:solidFill>
                                <a:srgbClr val="1E2A3A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微软雅黑" panose="020B0503020204020204" pitchFamily="34" charset="-120"/>
                            </a:rPr>
                            <m:t>𝜀</m:t>
                          </m:r>
                        </m:e>
                        <m:sub>
                          <m:r>
                            <a:rPr lang="en-US" altLang="zh-CN" sz="1400" i="1" dirty="0">
                              <a:solidFill>
                                <a:srgbClr val="1E2A3A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微软雅黑" panose="020B0503020204020204" pitchFamily="34" charset="-120"/>
                            </a:rPr>
                            <m:t>𝑡</m:t>
                          </m:r>
                        </m:sub>
                      </m:sSub>
                      <m:r>
                        <a:rPr lang="en-US" altLang="zh-CN" sz="1400" i="1" dirty="0">
                          <a:solidFill>
                            <a:srgbClr val="1E2A3A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m:t> ~ </m:t>
                      </m:r>
                      <m:r>
                        <a:rPr lang="en-US" altLang="zh-CN" sz="1400" i="1" dirty="0">
                          <a:solidFill>
                            <a:srgbClr val="1E2A3A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m:t>𝑁</m:t>
                      </m:r>
                      <m:r>
                        <a:rPr lang="en-US" altLang="zh-CN" sz="1400" i="1" dirty="0">
                          <a:solidFill>
                            <a:srgbClr val="1E2A3A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m:t>(</m:t>
                      </m:r>
                      <m:r>
                        <a:rPr lang="en-US" altLang="zh-CN" sz="1400" i="1" dirty="0">
                          <a:solidFill>
                            <a:srgbClr val="1E2A3A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m:t>0</m:t>
                      </m:r>
                      <m:r>
                        <a:rPr lang="en-US" altLang="zh-CN" sz="1400" i="1" dirty="0">
                          <a:solidFill>
                            <a:srgbClr val="1E2A3A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m:t>, </m:t>
                      </m:r>
                      <m:r>
                        <a:rPr lang="en-US" altLang="zh-CN" sz="1400" i="1" dirty="0">
                          <a:solidFill>
                            <a:srgbClr val="1E2A3A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m:t>𝜎</m:t>
                      </m:r>
                      <m:r>
                        <a:rPr lang="en-US" altLang="zh-CN" sz="1400" i="1" dirty="0">
                          <a:solidFill>
                            <a:srgbClr val="1E2A3A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m:t>²</m:t>
                      </m:r>
                      <m:r>
                        <a:rPr lang="en-US" altLang="zh-CN" sz="1400" i="1" dirty="0">
                          <a:solidFill>
                            <a:srgbClr val="1E2A3A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m:t>)</m:t>
                      </m:r>
                    </m:oMath>
                  </m:oMathPara>
                </a14:m>
                <a:endParaRPr lang="en-US" altLang="zh-CN" sz="1400" dirty="0">
                  <a:solidFill>
                    <a:prstClr val="black"/>
                  </a:solidFill>
                  <a:latin typeface="Calibri"/>
                  <a:ea typeface="等线" panose="02010600030101010101" pitchFamily="2" charset="-122"/>
                </a:endParaRPr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017" y="3145537"/>
                <a:ext cx="4571999" cy="307777"/>
              </a:xfrm>
              <a:prstGeom prst="rect">
                <a:avLst/>
              </a:prstGeom>
              <a:blipFill>
                <a:blip r:embed="rId4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890017" y="3462529"/>
            <a:ext cx="45719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219170"/>
            <a:r>
              <a:rPr sz="1200" i="1">
                <a:solidFill>
                  <a:srgbClr val="64748B"/>
                </a:solidFill>
                <a:latin typeface="Microsoft YaHei"/>
              </a:rPr>
              <a:t>保证 Rt 非负；σ² 控制平滑程度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7680" y="3828287"/>
            <a:ext cx="4937760" cy="12192"/>
          </a:xfrm>
          <a:prstGeom prst="rect">
            <a:avLst/>
          </a:prstGeom>
          <a:solidFill>
            <a:srgbClr val="D1D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sz="2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487680" y="3962399"/>
            <a:ext cx="316992" cy="316992"/>
          </a:xfrm>
          <a:prstGeom prst="ellipse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sz="2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87680" y="3962399"/>
            <a:ext cx="316992" cy="297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219170"/>
            <a:r>
              <a:rPr sz="1333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0017" y="3962400"/>
            <a:ext cx="459638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219170"/>
            <a:r>
              <a:rPr sz="1400" b="1" dirty="0" err="1">
                <a:solidFill>
                  <a:srgbClr val="F0A500"/>
                </a:solidFill>
                <a:latin typeface="Microsoft YaHei"/>
              </a:rPr>
              <a:t>初始先验</a:t>
            </a:r>
            <a:endParaRPr sz="1400" b="1" dirty="0">
              <a:solidFill>
                <a:srgbClr val="F0A500"/>
              </a:solidFill>
              <a:latin typeface="Microsoft YaHe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890017" y="4315967"/>
                <a:ext cx="459638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121917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400">
                          <a:solidFill>
                            <a:srgbClr val="1E2A3A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m:t>log</m:t>
                      </m:r>
                      <m:sSub>
                        <m:sSubPr>
                          <m:ctrlPr>
                            <a:rPr lang="en-US" altLang="zh-CN" sz="1400" i="1">
                              <a:solidFill>
                                <a:srgbClr val="1E2A3A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solidFill>
                                <a:srgbClr val="1E2A3A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a:rPr lang="en-US" altLang="zh-CN" sz="1400" i="1">
                              <a:solidFill>
                                <a:srgbClr val="1E2A3A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1400" i="1">
                              <a:solidFill>
                                <a:srgbClr val="1E2A3A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  <m:r>
                            <a:rPr lang="en-US" altLang="zh-CN" sz="1400" i="1">
                              <a:solidFill>
                                <a:srgbClr val="1E2A3A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</m:sub>
                      </m:sSub>
                      <m:r>
                        <a:rPr lang="en-US" altLang="zh-CN" sz="1400" i="1">
                          <a:solidFill>
                            <a:srgbClr val="1E2A3A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~</m:t>
                      </m:r>
                      <m:r>
                        <a:rPr lang="en-US" altLang="zh-CN" sz="1400" i="1">
                          <a:solidFill>
                            <a:srgbClr val="1E2A3A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𝑁</m:t>
                      </m:r>
                      <m:d>
                        <m:dPr>
                          <m:ctrlPr>
                            <a:rPr lang="en-US" altLang="zh-CN" sz="1400" i="1">
                              <a:solidFill>
                                <a:srgbClr val="1E2A3A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400" i="1">
                                  <a:solidFill>
                                    <a:srgbClr val="1E2A3A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1400" i="1">
                                  <a:solidFill>
                                    <a:srgbClr val="1E2A3A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sz="1400" i="1">
                                  <a:solidFill>
                                    <a:srgbClr val="1E2A3A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1400" i="1">
                              <a:solidFill>
                                <a:srgbClr val="1E2A3A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CN" sz="1400" i="1">
                                  <a:solidFill>
                                    <a:srgbClr val="1E2A3A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zh-CN" altLang="en-US" sz="1400" i="1">
                                  <a:solidFill>
                                    <a:srgbClr val="1E2A3A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𝜏</m:t>
                              </m:r>
                            </m:e>
                            <m:sup>
                              <m:r>
                                <a:rPr lang="en-US" altLang="zh-CN" sz="1400" i="1">
                                  <a:solidFill>
                                    <a:srgbClr val="1E2A3A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1400" i="1">
                              <a:solidFill>
                                <a:srgbClr val="1E2A3A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sz="1400" i="1" dirty="0">
                  <a:solidFill>
                    <a:srgbClr val="1E2A3A"/>
                  </a:solidFill>
                  <a:latin typeface="Calibri"/>
                </a:endParaRPr>
              </a:p>
              <a:p>
                <a:pPr defTabSz="1219170"/>
                <a:endParaRPr sz="1400" i="1" dirty="0">
                  <a:solidFill>
                    <a:srgbClr val="1E2A3A"/>
                  </a:solidFill>
                  <a:latin typeface="Calibri"/>
                </a:endParaRPr>
              </a:p>
            </p:txBody>
          </p:sp>
        </mc:Choice>
        <mc:Fallback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017" y="4315967"/>
                <a:ext cx="4596383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/>
          <p:cNvSpPr/>
          <p:nvPr/>
        </p:nvSpPr>
        <p:spPr>
          <a:xfrm>
            <a:off x="487680" y="4974336"/>
            <a:ext cx="4937760" cy="12192"/>
          </a:xfrm>
          <a:prstGeom prst="rect">
            <a:avLst/>
          </a:prstGeom>
          <a:solidFill>
            <a:srgbClr val="D1D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sz="2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487680" y="5352287"/>
            <a:ext cx="316992" cy="316992"/>
          </a:xfrm>
          <a:prstGeom prst="ellipse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sz="2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87680" y="5352287"/>
            <a:ext cx="316992" cy="297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219170"/>
            <a:r>
              <a:rPr sz="1333" b="1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0017" y="5352288"/>
            <a:ext cx="459638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219170"/>
            <a:r>
              <a:rPr sz="1400" b="1" dirty="0" err="1">
                <a:solidFill>
                  <a:srgbClr val="5C6BC0"/>
                </a:solidFill>
                <a:latin typeface="Microsoft YaHei"/>
              </a:rPr>
              <a:t>全条件后验（非标准，无解析形式</a:t>
            </a:r>
            <a:r>
              <a:rPr sz="1400" b="1" dirty="0">
                <a:solidFill>
                  <a:srgbClr val="5C6BC0"/>
                </a:solidFill>
                <a:latin typeface="Microsoft YaHei"/>
              </a:rPr>
              <a:t>）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/>
              <p:cNvSpPr txBox="1"/>
              <p:nvPr/>
            </p:nvSpPr>
            <p:spPr>
              <a:xfrm>
                <a:off x="890017" y="5705856"/>
                <a:ext cx="4596383" cy="8760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121917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altLang="zh-CN" sz="1200" i="1" dirty="0">
                          <a:solidFill>
                            <a:srgbClr val="1E2A3A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m:t>𝜋</m:t>
                      </m:r>
                      <m:d>
                        <m:dPr>
                          <m:ctrlPr>
                            <a:rPr lang="pt-BR" altLang="zh-CN" sz="1200" i="1" dirty="0">
                              <a:solidFill>
                                <a:srgbClr val="1E2A3A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微软雅黑" panose="020B0503020204020204" pitchFamily="34" charset="-12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altLang="zh-CN" sz="1200" i="1" dirty="0">
                                  <a:solidFill>
                                    <a:srgbClr val="1E2A3A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微软雅黑" panose="020B0503020204020204" pitchFamily="34" charset="-120"/>
                                </a:rPr>
                              </m:ctrlPr>
                            </m:sSubPr>
                            <m:e>
                              <m:r>
                                <a:rPr lang="pt-BR" altLang="zh-CN" sz="1200" i="1" dirty="0">
                                  <a:solidFill>
                                    <a:srgbClr val="1E2A3A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微软雅黑" panose="020B0503020204020204" pitchFamily="34" charset="-12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pt-BR" altLang="zh-CN" sz="1200" i="1" dirty="0">
                                  <a:solidFill>
                                    <a:srgbClr val="1E2A3A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微软雅黑" panose="020B0503020204020204" pitchFamily="34" charset="-120"/>
                                </a:rPr>
                                <m:t>𝑡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pt-BR" altLang="zh-CN" sz="1200" i="1" dirty="0">
                                  <a:solidFill>
                                    <a:srgbClr val="1E2A3A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微软雅黑" panose="020B0503020204020204" pitchFamily="34" charset="-120"/>
                                </a:rPr>
                              </m:ctrlPr>
                            </m:sSubPr>
                            <m:e>
                              <m:r>
                                <a:rPr lang="pt-BR" altLang="zh-CN" sz="1200" i="1" dirty="0">
                                  <a:solidFill>
                                    <a:srgbClr val="1E2A3A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微软雅黑" panose="020B0503020204020204" pitchFamily="34" charset="-12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pt-BR" altLang="zh-CN" sz="1200" i="1" dirty="0">
                                  <a:solidFill>
                                    <a:srgbClr val="1E2A3A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微软雅黑" panose="020B0503020204020204" pitchFamily="34" charset="-120"/>
                                </a:rPr>
                                <m:t>−</m:t>
                              </m:r>
                              <m:r>
                                <a:rPr lang="pt-BR" altLang="zh-CN" sz="1200" i="1" dirty="0">
                                  <a:solidFill>
                                    <a:srgbClr val="1E2A3A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微软雅黑" panose="020B0503020204020204" pitchFamily="34" charset="-120"/>
                                </a:rPr>
                                <m:t>𝑡</m:t>
                              </m:r>
                            </m:sub>
                          </m:sSub>
                          <m:r>
                            <a:rPr lang="pt-BR" altLang="zh-CN" sz="1200" i="1" dirty="0">
                              <a:solidFill>
                                <a:srgbClr val="1E2A3A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微软雅黑" panose="020B0503020204020204" pitchFamily="34" charset="-120"/>
                            </a:rPr>
                            <m:t>,</m:t>
                          </m:r>
                          <m:sSub>
                            <m:sSubPr>
                              <m:ctrlPr>
                                <a:rPr lang="pt-BR" altLang="zh-CN" sz="1200" i="1" dirty="0">
                                  <a:solidFill>
                                    <a:srgbClr val="1E2A3A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微软雅黑" panose="020B0503020204020204" pitchFamily="34" charset="-120"/>
                                </a:rPr>
                              </m:ctrlPr>
                            </m:sSubPr>
                            <m:e>
                              <m:r>
                                <a:rPr lang="pt-BR" altLang="zh-CN" sz="1200" i="1" dirty="0">
                                  <a:solidFill>
                                    <a:srgbClr val="1E2A3A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微软雅黑" panose="020B0503020204020204" pitchFamily="34" charset="-12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pt-BR" altLang="zh-CN" sz="1200" i="1" dirty="0">
                                  <a:solidFill>
                                    <a:srgbClr val="1E2A3A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微软雅黑" panose="020B0503020204020204" pitchFamily="34" charset="-120"/>
                                </a:rPr>
                                <m:t>1</m:t>
                              </m:r>
                              <m:r>
                                <a:rPr lang="pt-BR" altLang="zh-CN" sz="1200" i="1" dirty="0">
                                  <a:solidFill>
                                    <a:srgbClr val="1E2A3A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微软雅黑" panose="020B0503020204020204" pitchFamily="34" charset="-120"/>
                                </a:rPr>
                                <m:t>:</m:t>
                              </m:r>
                              <m:r>
                                <a:rPr lang="pt-BR" altLang="zh-CN" sz="1200" i="1" dirty="0">
                                  <a:solidFill>
                                    <a:srgbClr val="1E2A3A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微软雅黑" panose="020B0503020204020204" pitchFamily="34" charset="-120"/>
                                </a:rPr>
                                <m:t>𝑇</m:t>
                              </m:r>
                            </m:sub>
                          </m:sSub>
                          <m:r>
                            <a:rPr lang="pt-BR" altLang="zh-CN" sz="1200" i="1" dirty="0">
                              <a:solidFill>
                                <a:srgbClr val="1E2A3A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微软雅黑" panose="020B0503020204020204" pitchFamily="34" charset="-120"/>
                            </a:rPr>
                            <m:t>,</m:t>
                          </m:r>
                          <m:sSup>
                            <m:sSupPr>
                              <m:ctrlPr>
                                <a:rPr lang="pt-BR" altLang="zh-CN" sz="1200" i="1" dirty="0">
                                  <a:solidFill>
                                    <a:srgbClr val="1E2A3A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微软雅黑" panose="020B0503020204020204" pitchFamily="34" charset="-120"/>
                                </a:rPr>
                              </m:ctrlPr>
                            </m:sSupPr>
                            <m:e>
                              <m:r>
                                <a:rPr lang="pt-BR" altLang="zh-CN" sz="1200" i="1" dirty="0">
                                  <a:solidFill>
                                    <a:srgbClr val="1E2A3A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微软雅黑" panose="020B0503020204020204" pitchFamily="34" charset="-12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pt-BR" altLang="zh-CN" sz="1200" i="1" dirty="0">
                                  <a:solidFill>
                                    <a:srgbClr val="1E2A3A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微软雅黑" panose="020B0503020204020204" pitchFamily="34" charset="-12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pt-BR" altLang="zh-CN" sz="1200" i="1" dirty="0">
                          <a:solidFill>
                            <a:srgbClr val="1E2A3A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m:t>∝</m:t>
                      </m:r>
                      <m:r>
                        <a:rPr lang="pt-BR" altLang="zh-CN" sz="1200" i="1" dirty="0">
                          <a:solidFill>
                            <a:srgbClr val="1E2A3A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m:t>𝑃</m:t>
                      </m:r>
                      <m:d>
                        <m:dPr>
                          <m:ctrlPr>
                            <a:rPr lang="pt-BR" altLang="zh-CN" sz="1200" i="1" dirty="0">
                              <a:solidFill>
                                <a:srgbClr val="1E2A3A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微软雅黑" panose="020B0503020204020204" pitchFamily="34" charset="-12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altLang="zh-CN" sz="1200" i="1" dirty="0">
                                  <a:solidFill>
                                    <a:srgbClr val="1E2A3A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微软雅黑" panose="020B0503020204020204" pitchFamily="34" charset="-120"/>
                                </a:rPr>
                              </m:ctrlPr>
                            </m:sSubPr>
                            <m:e>
                              <m:r>
                                <a:rPr lang="pt-BR" altLang="zh-CN" sz="1200" i="1" dirty="0">
                                  <a:solidFill>
                                    <a:srgbClr val="1E2A3A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微软雅黑" panose="020B0503020204020204" pitchFamily="34" charset="-12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pt-BR" altLang="zh-CN" sz="1200" i="1" dirty="0">
                                  <a:solidFill>
                                    <a:srgbClr val="1E2A3A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微软雅黑" panose="020B0503020204020204" pitchFamily="34" charset="-120"/>
                                </a:rPr>
                                <m:t>𝑡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pt-BR" altLang="zh-CN" sz="1200" i="1" dirty="0">
                                  <a:solidFill>
                                    <a:srgbClr val="1E2A3A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微软雅黑" panose="020B0503020204020204" pitchFamily="34" charset="-120"/>
                                </a:rPr>
                              </m:ctrlPr>
                            </m:sSubPr>
                            <m:e>
                              <m:r>
                                <a:rPr lang="pt-BR" altLang="zh-CN" sz="1200" i="1" dirty="0">
                                  <a:solidFill>
                                    <a:srgbClr val="1E2A3A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微软雅黑" panose="020B0503020204020204" pitchFamily="34" charset="-12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pt-BR" altLang="zh-CN" sz="1200" i="1" dirty="0">
                                  <a:solidFill>
                                    <a:srgbClr val="1E2A3A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微软雅黑" panose="020B0503020204020204" pitchFamily="34" charset="-12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pt-BR" altLang="zh-CN" sz="1200" i="1" dirty="0">
                          <a:solidFill>
                            <a:srgbClr val="1E2A3A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m:t>𝑃</m:t>
                      </m:r>
                      <m:d>
                        <m:dPr>
                          <m:ctrlPr>
                            <a:rPr lang="pt-BR" altLang="zh-CN" sz="1200" i="1" dirty="0">
                              <a:solidFill>
                                <a:srgbClr val="1E2A3A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微软雅黑" panose="020B0503020204020204" pitchFamily="34" charset="-12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altLang="zh-CN" sz="1200" i="1" dirty="0">
                                  <a:solidFill>
                                    <a:srgbClr val="1E2A3A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微软雅黑" panose="020B0503020204020204" pitchFamily="34" charset="-120"/>
                                </a:rPr>
                              </m:ctrlPr>
                            </m:sSubPr>
                            <m:e>
                              <m:r>
                                <a:rPr lang="pt-BR" altLang="zh-CN" sz="1200" i="1" dirty="0">
                                  <a:solidFill>
                                    <a:srgbClr val="1E2A3A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微软雅黑" panose="020B0503020204020204" pitchFamily="34" charset="-12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pt-BR" altLang="zh-CN" sz="1200" i="1" dirty="0">
                                  <a:solidFill>
                                    <a:srgbClr val="1E2A3A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微软雅黑" panose="020B0503020204020204" pitchFamily="34" charset="-120"/>
                                </a:rPr>
                                <m:t>𝑡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pt-BR" altLang="zh-CN" sz="1200" i="1" dirty="0">
                                  <a:solidFill>
                                    <a:srgbClr val="1E2A3A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微软雅黑" panose="020B0503020204020204" pitchFamily="34" charset="-120"/>
                                </a:rPr>
                              </m:ctrlPr>
                            </m:sSubPr>
                            <m:e>
                              <m:r>
                                <a:rPr lang="pt-BR" altLang="zh-CN" sz="1200" i="1" dirty="0">
                                  <a:solidFill>
                                    <a:srgbClr val="1E2A3A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微软雅黑" panose="020B0503020204020204" pitchFamily="34" charset="-12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pt-BR" altLang="zh-CN" sz="1200" i="1" dirty="0">
                                  <a:solidFill>
                                    <a:srgbClr val="1E2A3A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微软雅黑" panose="020B0503020204020204" pitchFamily="34" charset="-120"/>
                                </a:rPr>
                                <m:t>𝑡</m:t>
                              </m:r>
                              <m:r>
                                <a:rPr lang="pt-BR" altLang="zh-CN" sz="1200" i="1" dirty="0">
                                  <a:solidFill>
                                    <a:srgbClr val="1E2A3A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微软雅黑" panose="020B0503020204020204" pitchFamily="34" charset="-120"/>
                                </a:rPr>
                                <m:t>−</m:t>
                              </m:r>
                              <m:r>
                                <a:rPr lang="pt-BR" altLang="zh-CN" sz="1200" i="1" dirty="0">
                                  <a:solidFill>
                                    <a:srgbClr val="1E2A3A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微软雅黑" panose="020B0503020204020204" pitchFamily="34" charset="-12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pt-BR" altLang="zh-CN" sz="1200" i="1" dirty="0">
                          <a:solidFill>
                            <a:srgbClr val="1E2A3A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m:t>𝑃</m:t>
                      </m:r>
                      <m:d>
                        <m:dPr>
                          <m:ctrlPr>
                            <a:rPr lang="pt-BR" altLang="zh-CN" sz="1200" i="1" dirty="0">
                              <a:solidFill>
                                <a:srgbClr val="1E2A3A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微软雅黑" panose="020B0503020204020204" pitchFamily="34" charset="-12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altLang="zh-CN" sz="1200" i="1" dirty="0">
                                  <a:solidFill>
                                    <a:srgbClr val="1E2A3A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微软雅黑" panose="020B0503020204020204" pitchFamily="34" charset="-120"/>
                                </a:rPr>
                              </m:ctrlPr>
                            </m:sSubPr>
                            <m:e>
                              <m:r>
                                <a:rPr lang="pt-BR" altLang="zh-CN" sz="1200" i="1" dirty="0">
                                  <a:solidFill>
                                    <a:srgbClr val="1E2A3A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微软雅黑" panose="020B0503020204020204" pitchFamily="34" charset="-12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pt-BR" altLang="zh-CN" sz="1200" i="1" dirty="0">
                                  <a:solidFill>
                                    <a:srgbClr val="1E2A3A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微软雅黑" panose="020B0503020204020204" pitchFamily="34" charset="-120"/>
                                </a:rPr>
                                <m:t>𝑡</m:t>
                              </m:r>
                              <m:r>
                                <a:rPr lang="pt-BR" altLang="zh-CN" sz="1200" i="1" dirty="0">
                                  <a:solidFill>
                                    <a:srgbClr val="1E2A3A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微软雅黑" panose="020B0503020204020204" pitchFamily="34" charset="-120"/>
                                </a:rPr>
                                <m:t>+</m:t>
                              </m:r>
                              <m:r>
                                <a:rPr lang="pt-BR" altLang="zh-CN" sz="1200" i="1" dirty="0">
                                  <a:solidFill>
                                    <a:srgbClr val="1E2A3A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微软雅黑" panose="020B0503020204020204" pitchFamily="34" charset="-12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pt-BR" altLang="zh-CN" sz="1200" i="1" dirty="0">
                                  <a:solidFill>
                                    <a:srgbClr val="1E2A3A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微软雅黑" panose="020B0503020204020204" pitchFamily="34" charset="-120"/>
                                </a:rPr>
                              </m:ctrlPr>
                            </m:sSubPr>
                            <m:e>
                              <m:r>
                                <a:rPr lang="pt-BR" altLang="zh-CN" sz="1200" i="1" dirty="0">
                                  <a:solidFill>
                                    <a:srgbClr val="1E2A3A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微软雅黑" panose="020B0503020204020204" pitchFamily="34" charset="-12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pt-BR" altLang="zh-CN" sz="1200" i="1" dirty="0">
                                  <a:solidFill>
                                    <a:srgbClr val="1E2A3A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微软雅黑" panose="020B0503020204020204" pitchFamily="34" charset="-12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r>
                        <a:rPr lang="en-US" altLang="zh-CN" sz="1200" i="1" dirty="0">
                          <a:solidFill>
                            <a:srgbClr val="1E2A3A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m:t>𝜋</m:t>
                      </m:r>
                      <m:d>
                        <m:dPr>
                          <m:ctrlPr>
                            <a:rPr lang="en-US" altLang="zh-CN" sz="1200" i="1" dirty="0">
                              <a:solidFill>
                                <a:srgbClr val="1E2A3A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微软雅黑" panose="020B0503020204020204" pitchFamily="34" charset="-12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i="1" dirty="0" err="1">
                                  <a:solidFill>
                                    <a:srgbClr val="1E2A3A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微软雅黑" panose="020B0503020204020204" pitchFamily="34" charset="-12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 dirty="0" err="1">
                                  <a:solidFill>
                                    <a:srgbClr val="1E2A3A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微软雅黑" panose="020B0503020204020204" pitchFamily="34" charset="-12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1200" i="1" dirty="0" err="1">
                                  <a:solidFill>
                                    <a:srgbClr val="1E2A3A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微软雅黑" panose="020B0503020204020204" pitchFamily="34" charset="-120"/>
                                </a:rPr>
                                <m:t>𝑡</m:t>
                              </m:r>
                            </m:sub>
                          </m:sSub>
                        </m:e>
                        <m:e>
                          <m:r>
                            <a:rPr lang="en-US" altLang="zh-CN" sz="1200" i="1" dirty="0">
                              <a:solidFill>
                                <a:srgbClr val="1E2A3A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微软雅黑" panose="020B0503020204020204" pitchFamily="34" charset="-120"/>
                            </a:rPr>
                            <m:t>⋅</m:t>
                          </m:r>
                        </m:e>
                      </m:d>
                      <m:r>
                        <a:rPr lang="en-US" altLang="zh-CN" sz="1200" i="1" dirty="0">
                          <a:solidFill>
                            <a:srgbClr val="1E2A3A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m:t>∝</m:t>
                      </m:r>
                      <m:sSubSup>
                        <m:sSubSupPr>
                          <m:ctrlPr>
                            <a:rPr lang="en-US" altLang="zh-CN" sz="1200" i="1" dirty="0" err="1">
                              <a:solidFill>
                                <a:srgbClr val="1E2A3A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微软雅黑" panose="020B0503020204020204" pitchFamily="34" charset="-120"/>
                            </a:rPr>
                          </m:ctrlPr>
                        </m:sSubSupPr>
                        <m:e>
                          <m:r>
                            <a:rPr lang="en-US" altLang="zh-CN" sz="1200" i="1" dirty="0" err="1">
                              <a:solidFill>
                                <a:srgbClr val="1E2A3A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微软雅黑" panose="020B0503020204020204" pitchFamily="34" charset="-12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1200" i="1" dirty="0" err="1">
                              <a:solidFill>
                                <a:srgbClr val="1E2A3A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微软雅黑" panose="020B0503020204020204" pitchFamily="34" charset="-120"/>
                            </a:rPr>
                            <m:t>𝑡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zh-CN" sz="1200" i="1" dirty="0" err="1">
                                  <a:solidFill>
                                    <a:srgbClr val="1E2A3A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微软雅黑" panose="020B0503020204020204" pitchFamily="34" charset="-12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 dirty="0" err="1">
                                  <a:solidFill>
                                    <a:srgbClr val="1E2A3A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微软雅黑" panose="020B0503020204020204" pitchFamily="34" charset="-12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altLang="zh-CN" sz="1200" i="1" dirty="0" err="1">
                                  <a:solidFill>
                                    <a:srgbClr val="1E2A3A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微软雅黑" panose="020B0503020204020204" pitchFamily="34" charset="-12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zh-CN" sz="1200" i="1" dirty="0">
                              <a:solidFill>
                                <a:srgbClr val="1E2A3A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微软雅黑" panose="020B0503020204020204" pitchFamily="34" charset="-120"/>
                            </a:rPr>
                            <m:t>−</m:t>
                          </m:r>
                          <m:r>
                            <a:rPr lang="en-US" altLang="zh-CN" sz="1200" i="1" dirty="0">
                              <a:solidFill>
                                <a:srgbClr val="1E2A3A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微软雅黑" panose="020B0503020204020204" pitchFamily="34" charset="-120"/>
                            </a:rPr>
                            <m:t>1</m:t>
                          </m:r>
                        </m:sup>
                      </m:sSubSup>
                      <m:func>
                        <m:funcPr>
                          <m:ctrlPr>
                            <a:rPr lang="en-US" altLang="zh-CN" sz="1200" i="1" dirty="0">
                              <a:solidFill>
                                <a:srgbClr val="1E2A3A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微软雅黑" panose="020B0503020204020204" pitchFamily="34" charset="-12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200" dirty="0">
                              <a:solidFill>
                                <a:srgbClr val="1E2A3A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微软雅黑" panose="020B0503020204020204" pitchFamily="34" charset="-12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sz="1200" i="1" dirty="0">
                                  <a:solidFill>
                                    <a:srgbClr val="1E2A3A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微软雅黑" panose="020B0503020204020204" pitchFamily="34" charset="-120"/>
                                </a:rPr>
                              </m:ctrlPr>
                            </m:dPr>
                            <m:e>
                              <m:r>
                                <a:rPr lang="en-US" altLang="zh-CN" sz="1200" i="1" dirty="0">
                                  <a:solidFill>
                                    <a:srgbClr val="1E2A3A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微软雅黑" panose="020B0503020204020204" pitchFamily="34" charset="-12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1200" i="1" dirty="0" err="1">
                                      <a:solidFill>
                                        <a:srgbClr val="1E2A3A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微软雅黑" panose="020B0503020204020204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i="1" dirty="0" err="1">
                                      <a:solidFill>
                                        <a:srgbClr val="1E2A3A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微软雅黑" panose="020B0503020204020204" pitchFamily="34" charset="-12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sz="1200" i="1" dirty="0" err="1">
                                      <a:solidFill>
                                        <a:srgbClr val="1E2A3A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微软雅黑" panose="020B0503020204020204" pitchFamily="34" charset="-120"/>
                                    </a:rPr>
                                    <m:t>𝑡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1200" i="1" dirty="0" err="1">
                                      <a:solidFill>
                                        <a:srgbClr val="1E2A3A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微软雅黑" panose="020B0503020204020204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1200" dirty="0">
                                      <a:solidFill>
                                        <a:srgbClr val="1E2A3A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微软雅黑" panose="020B0503020204020204" pitchFamily="34" charset="-120"/>
                                    </a:rPr>
                                    <m:t>Λ</m:t>
                                  </m:r>
                                </m:e>
                                <m:sub>
                                  <m:r>
                                    <a:rPr lang="en-US" altLang="zh-CN" sz="1200" i="1" dirty="0" err="1">
                                      <a:solidFill>
                                        <a:srgbClr val="1E2A3A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微软雅黑" panose="020B0503020204020204" pitchFamily="34" charset="-12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zh-CN" sz="1200" i="1" dirty="0">
                                  <a:solidFill>
                                    <a:srgbClr val="1E2A3A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微软雅黑" panose="020B0503020204020204" pitchFamily="34" charset="-12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1200" i="1" dirty="0">
                                      <a:solidFill>
                                        <a:srgbClr val="1E2A3A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微软雅黑" panose="020B0503020204020204" pitchFamily="34" charset="-12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sz="1200" i="1" dirty="0">
                                          <a:solidFill>
                                            <a:srgbClr val="1E2A3A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微软雅黑" panose="020B0503020204020204" pitchFamily="34" charset="-12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zh-CN" sz="1200" i="1" dirty="0">
                                              <a:solidFill>
                                                <a:srgbClr val="1E2A3A"/>
                                              </a:solidFill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  <a:cs typeface="微软雅黑" panose="020B0503020204020204" pitchFamily="34" charset="-120"/>
                                            </a:rPr>
                                          </m:ctrlPr>
                                        </m:dPr>
                                        <m:e>
                                          <m:func>
                                            <m:funcPr>
                                              <m:ctrlPr>
                                                <a:rPr lang="en-US" altLang="zh-CN" sz="1200" i="1" dirty="0">
                                                  <a:solidFill>
                                                    <a:srgbClr val="1E2A3A"/>
                                                  </a:solidFill>
                                                  <a:latin typeface="Cambria Math" panose="02040503050406030204" pitchFamily="18" charset="0"/>
                                                  <a:ea typeface="微软雅黑" panose="020B0503020204020204" pitchFamily="34" charset="-122"/>
                                                  <a:cs typeface="微软雅黑" panose="020B0503020204020204" pitchFamily="34" charset="-120"/>
                                                </a:rPr>
                                              </m:ctrlPr>
                                            </m:funcPr>
                                            <m:fNam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zh-CN" sz="1200" dirty="0">
                                                  <a:solidFill>
                                                    <a:srgbClr val="1E2A3A"/>
                                                  </a:solidFill>
                                                  <a:latin typeface="Cambria Math" panose="02040503050406030204" pitchFamily="18" charset="0"/>
                                                  <a:ea typeface="微软雅黑" panose="020B0503020204020204" pitchFamily="34" charset="-122"/>
                                                  <a:cs typeface="微软雅黑" panose="020B0503020204020204" pitchFamily="34" charset="-120"/>
                                                </a:rPr>
                                                <m:t>log</m:t>
                                              </m:r>
                                            </m:fName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altLang="zh-CN" sz="1200" i="1" dirty="0" err="1">
                                                      <a:solidFill>
                                                        <a:srgbClr val="1E2A3A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微软雅黑" panose="020B0503020204020204" pitchFamily="34" charset="-122"/>
                                                      <a:cs typeface="微软雅黑" panose="020B0503020204020204" pitchFamily="34" charset="-12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sz="1200" i="1" dirty="0" err="1">
                                                      <a:solidFill>
                                                        <a:srgbClr val="1E2A3A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微软雅黑" panose="020B0503020204020204" pitchFamily="34" charset="-122"/>
                                                      <a:cs typeface="微软雅黑" panose="020B0503020204020204" pitchFamily="34" charset="-120"/>
                                                    </a:rPr>
                                                    <m:t>𝑅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sz="1200" i="1" dirty="0" err="1">
                                                      <a:solidFill>
                                                        <a:srgbClr val="1E2A3A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微软雅黑" panose="020B0503020204020204" pitchFamily="34" charset="-122"/>
                                                      <a:cs typeface="微软雅黑" panose="020B0503020204020204" pitchFamily="34" charset="-120"/>
                                                    </a:rPr>
                                                    <m:t>𝑡</m:t>
                                                  </m:r>
                                                </m:sub>
                                              </m:sSub>
                                            </m:e>
                                          </m:func>
                                          <m:r>
                                            <a:rPr lang="en-US" altLang="zh-CN" sz="1200" i="1" dirty="0">
                                              <a:solidFill>
                                                <a:srgbClr val="1E2A3A"/>
                                              </a:solidFill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  <a:cs typeface="微软雅黑" panose="020B0503020204020204" pitchFamily="34" charset="-120"/>
                                            </a:rPr>
                                            <m:t>−</m:t>
                                          </m:r>
                                          <m:func>
                                            <m:funcPr>
                                              <m:ctrlPr>
                                                <a:rPr lang="en-US" altLang="zh-CN" sz="1200" i="1" dirty="0">
                                                  <a:solidFill>
                                                    <a:srgbClr val="1E2A3A"/>
                                                  </a:solidFill>
                                                  <a:latin typeface="Cambria Math" panose="02040503050406030204" pitchFamily="18" charset="0"/>
                                                  <a:ea typeface="微软雅黑" panose="020B0503020204020204" pitchFamily="34" charset="-122"/>
                                                  <a:cs typeface="微软雅黑" panose="020B0503020204020204" pitchFamily="34" charset="-120"/>
                                                </a:rPr>
                                              </m:ctrlPr>
                                            </m:funcPr>
                                            <m:fNam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zh-CN" sz="1200" dirty="0">
                                                  <a:solidFill>
                                                    <a:srgbClr val="1E2A3A"/>
                                                  </a:solidFill>
                                                  <a:latin typeface="Cambria Math" panose="02040503050406030204" pitchFamily="18" charset="0"/>
                                                  <a:ea typeface="微软雅黑" panose="020B0503020204020204" pitchFamily="34" charset="-122"/>
                                                  <a:cs typeface="微软雅黑" panose="020B0503020204020204" pitchFamily="34" charset="-120"/>
                                                </a:rPr>
                                                <m:t>log</m:t>
                                              </m:r>
                                            </m:fName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altLang="zh-CN" sz="1200" i="1" dirty="0">
                                                      <a:solidFill>
                                                        <a:srgbClr val="1E2A3A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微软雅黑" panose="020B0503020204020204" pitchFamily="34" charset="-122"/>
                                                      <a:cs typeface="微软雅黑" panose="020B0503020204020204" pitchFamily="34" charset="-12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sz="1200" i="1" dirty="0">
                                                      <a:solidFill>
                                                        <a:srgbClr val="1E2A3A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微软雅黑" panose="020B0503020204020204" pitchFamily="34" charset="-122"/>
                                                      <a:cs typeface="微软雅黑" panose="020B0503020204020204" pitchFamily="34" charset="-120"/>
                                                    </a:rPr>
                                                    <m:t>𝑅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sz="1200" i="1" dirty="0">
                                                      <a:solidFill>
                                                        <a:srgbClr val="1E2A3A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微软雅黑" panose="020B0503020204020204" pitchFamily="34" charset="-122"/>
                                                      <a:cs typeface="微软雅黑" panose="020B0503020204020204" pitchFamily="34" charset="-120"/>
                                                    </a:rPr>
                                                    <m:t>𝑡</m:t>
                                                  </m:r>
                                                  <m:r>
                                                    <a:rPr lang="en-US" altLang="zh-CN" sz="1200" i="1" dirty="0">
                                                      <a:solidFill>
                                                        <a:srgbClr val="1E2A3A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微软雅黑" panose="020B0503020204020204" pitchFamily="34" charset="-122"/>
                                                      <a:cs typeface="微软雅黑" panose="020B0503020204020204" pitchFamily="34" charset="-120"/>
                                                    </a:rPr>
                                                    <m:t>−</m:t>
                                                  </m:r>
                                                  <m:r>
                                                    <a:rPr lang="en-US" altLang="zh-CN" sz="1200" i="1" dirty="0">
                                                      <a:solidFill>
                                                        <a:srgbClr val="1E2A3A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微软雅黑" panose="020B0503020204020204" pitchFamily="34" charset="-122"/>
                                                      <a:cs typeface="微软雅黑" panose="020B0503020204020204" pitchFamily="34" charset="-12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</m:e>
                                          </m:func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CN" sz="1200" i="1" dirty="0">
                                          <a:solidFill>
                                            <a:srgbClr val="1E2A3A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微软雅黑" panose="020B0503020204020204" pitchFamily="34" charset="-12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altLang="zh-CN" sz="1200" i="1" dirty="0">
                                      <a:solidFill>
                                        <a:srgbClr val="1E2A3A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微软雅黑" panose="020B0503020204020204" pitchFamily="34" charset="-12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altLang="zh-CN" sz="1200" i="1" dirty="0">
                                          <a:solidFill>
                                            <a:srgbClr val="1E2A3A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微软雅黑" panose="020B0503020204020204" pitchFamily="34" charset="-12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zh-CN" sz="1200" i="1" dirty="0">
                                              <a:solidFill>
                                                <a:srgbClr val="1E2A3A"/>
                                              </a:solidFill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  <a:cs typeface="微软雅黑" panose="020B0503020204020204" pitchFamily="34" charset="-120"/>
                                            </a:rPr>
                                          </m:ctrlPr>
                                        </m:dPr>
                                        <m:e>
                                          <m:func>
                                            <m:funcPr>
                                              <m:ctrlPr>
                                                <a:rPr lang="en-US" altLang="zh-CN" sz="1200" i="1" dirty="0">
                                                  <a:solidFill>
                                                    <a:srgbClr val="1E2A3A"/>
                                                  </a:solidFill>
                                                  <a:latin typeface="Cambria Math" panose="02040503050406030204" pitchFamily="18" charset="0"/>
                                                  <a:ea typeface="微软雅黑" panose="020B0503020204020204" pitchFamily="34" charset="-122"/>
                                                  <a:cs typeface="微软雅黑" panose="020B0503020204020204" pitchFamily="34" charset="-120"/>
                                                </a:rPr>
                                              </m:ctrlPr>
                                            </m:funcPr>
                                            <m:fNam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zh-CN" sz="1200" dirty="0">
                                                  <a:solidFill>
                                                    <a:srgbClr val="1E2A3A"/>
                                                  </a:solidFill>
                                                  <a:latin typeface="Cambria Math" panose="02040503050406030204" pitchFamily="18" charset="0"/>
                                                  <a:ea typeface="微软雅黑" panose="020B0503020204020204" pitchFamily="34" charset="-122"/>
                                                  <a:cs typeface="微软雅黑" panose="020B0503020204020204" pitchFamily="34" charset="-120"/>
                                                </a:rPr>
                                                <m:t>log</m:t>
                                              </m:r>
                                            </m:fName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altLang="zh-CN" sz="1200" i="1" dirty="0">
                                                      <a:solidFill>
                                                        <a:srgbClr val="1E2A3A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微软雅黑" panose="020B0503020204020204" pitchFamily="34" charset="-122"/>
                                                      <a:cs typeface="微软雅黑" panose="020B0503020204020204" pitchFamily="34" charset="-12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sz="1200" i="1" dirty="0">
                                                      <a:solidFill>
                                                        <a:srgbClr val="1E2A3A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微软雅黑" panose="020B0503020204020204" pitchFamily="34" charset="-122"/>
                                                      <a:cs typeface="微软雅黑" panose="020B0503020204020204" pitchFamily="34" charset="-120"/>
                                                    </a:rPr>
                                                    <m:t>𝑅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sz="1200" i="1" dirty="0">
                                                      <a:solidFill>
                                                        <a:srgbClr val="1E2A3A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微软雅黑" panose="020B0503020204020204" pitchFamily="34" charset="-122"/>
                                                      <a:cs typeface="微软雅黑" panose="020B0503020204020204" pitchFamily="34" charset="-120"/>
                                                    </a:rPr>
                                                    <m:t>𝑡</m:t>
                                                  </m:r>
                                                  <m:r>
                                                    <a:rPr lang="en-US" altLang="zh-CN" sz="1200" i="1" dirty="0">
                                                      <a:solidFill>
                                                        <a:srgbClr val="1E2A3A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微软雅黑" panose="020B0503020204020204" pitchFamily="34" charset="-122"/>
                                                      <a:cs typeface="微软雅黑" panose="020B0503020204020204" pitchFamily="34" charset="-120"/>
                                                    </a:rPr>
                                                    <m:t>+</m:t>
                                                  </m:r>
                                                  <m:r>
                                                    <a:rPr lang="en-US" altLang="zh-CN" sz="1200" i="1" dirty="0">
                                                      <a:solidFill>
                                                        <a:srgbClr val="1E2A3A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微软雅黑" panose="020B0503020204020204" pitchFamily="34" charset="-122"/>
                                                      <a:cs typeface="微软雅黑" panose="020B0503020204020204" pitchFamily="34" charset="-12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</m:e>
                                          </m:func>
                                          <m:r>
                                            <a:rPr lang="en-US" altLang="zh-CN" sz="1200" i="1" dirty="0">
                                              <a:solidFill>
                                                <a:srgbClr val="1E2A3A"/>
                                              </a:solidFill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  <a:cs typeface="微软雅黑" panose="020B0503020204020204" pitchFamily="34" charset="-120"/>
                                            </a:rPr>
                                            <m:t>−</m:t>
                                          </m:r>
                                          <m:func>
                                            <m:funcPr>
                                              <m:ctrlPr>
                                                <a:rPr lang="en-US" altLang="zh-CN" sz="1200" i="1" dirty="0">
                                                  <a:solidFill>
                                                    <a:srgbClr val="1E2A3A"/>
                                                  </a:solidFill>
                                                  <a:latin typeface="Cambria Math" panose="02040503050406030204" pitchFamily="18" charset="0"/>
                                                  <a:ea typeface="微软雅黑" panose="020B0503020204020204" pitchFamily="34" charset="-122"/>
                                                  <a:cs typeface="微软雅黑" panose="020B0503020204020204" pitchFamily="34" charset="-120"/>
                                                </a:rPr>
                                              </m:ctrlPr>
                                            </m:funcPr>
                                            <m:fNam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zh-CN" sz="1200" dirty="0">
                                                  <a:solidFill>
                                                    <a:srgbClr val="1E2A3A"/>
                                                  </a:solidFill>
                                                  <a:latin typeface="Cambria Math" panose="02040503050406030204" pitchFamily="18" charset="0"/>
                                                  <a:ea typeface="微软雅黑" panose="020B0503020204020204" pitchFamily="34" charset="-122"/>
                                                  <a:cs typeface="微软雅黑" panose="020B0503020204020204" pitchFamily="34" charset="-120"/>
                                                </a:rPr>
                                                <m:t>log</m:t>
                                              </m:r>
                                            </m:fName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altLang="zh-CN" sz="1200" i="1" dirty="0" err="1">
                                                      <a:solidFill>
                                                        <a:srgbClr val="1E2A3A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微软雅黑" panose="020B0503020204020204" pitchFamily="34" charset="-122"/>
                                                      <a:cs typeface="微软雅黑" panose="020B0503020204020204" pitchFamily="34" charset="-12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sz="1200" i="1" dirty="0" err="1">
                                                      <a:solidFill>
                                                        <a:srgbClr val="1E2A3A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微软雅黑" panose="020B0503020204020204" pitchFamily="34" charset="-122"/>
                                                      <a:cs typeface="微软雅黑" panose="020B0503020204020204" pitchFamily="34" charset="-120"/>
                                                    </a:rPr>
                                                    <m:t>𝑅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sz="1200" i="1" dirty="0" err="1">
                                                      <a:solidFill>
                                                        <a:srgbClr val="1E2A3A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微软雅黑" panose="020B0503020204020204" pitchFamily="34" charset="-122"/>
                                                      <a:cs typeface="微软雅黑" panose="020B0503020204020204" pitchFamily="34" charset="-120"/>
                                                    </a:rPr>
                                                    <m:t>𝑡</m:t>
                                                  </m:r>
                                                </m:sub>
                                              </m:sSub>
                                            </m:e>
                                          </m:func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CN" sz="1200" i="1" dirty="0">
                                          <a:solidFill>
                                            <a:srgbClr val="1E2A3A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微软雅黑" panose="020B0503020204020204" pitchFamily="34" charset="-12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sz="1200" i="1" dirty="0">
                                      <a:solidFill>
                                        <a:srgbClr val="1E2A3A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微软雅黑" panose="020B0503020204020204" pitchFamily="34" charset="-120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en-US" altLang="zh-CN" sz="1200" i="1" dirty="0">
                                          <a:solidFill>
                                            <a:srgbClr val="1E2A3A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微软雅黑" panose="020B0503020204020204" pitchFamily="34" charset="-12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200" i="1" dirty="0">
                                          <a:solidFill>
                                            <a:srgbClr val="1E2A3A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微软雅黑" panose="020B0503020204020204" pitchFamily="34" charset="-12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altLang="zh-CN" sz="1200" i="1" dirty="0">
                                          <a:solidFill>
                                            <a:srgbClr val="1E2A3A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微软雅黑" panose="020B0503020204020204" pitchFamily="34" charset="-12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sz="1267" i="1" dirty="0">
                  <a:solidFill>
                    <a:srgbClr val="1E2A3A"/>
                  </a:solidFill>
                  <a:latin typeface="Calibri"/>
                </a:endParaRPr>
              </a:p>
            </p:txBody>
          </p:sp>
        </mc:Choice>
        <mc:Fallback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017" y="5705856"/>
                <a:ext cx="4596383" cy="87607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/>
          <p:cNvSpPr/>
          <p:nvPr/>
        </p:nvSpPr>
        <p:spPr>
          <a:xfrm>
            <a:off x="5791200" y="1011936"/>
            <a:ext cx="6096000" cy="5669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sz="2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5791200" y="1011936"/>
            <a:ext cx="6096000" cy="60960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sz="2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974080" y="1109471"/>
            <a:ext cx="5852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219170"/>
            <a:r>
              <a:rPr sz="1600" b="1">
                <a:solidFill>
                  <a:srgbClr val="1A2B5E"/>
                </a:solidFill>
                <a:latin typeface="Microsoft YaHei"/>
              </a:rPr>
              <a:t>⚙️  Metropolis-within-Gibbs 完整迭代流程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37504" y="1621536"/>
            <a:ext cx="85344" cy="79248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sz="2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120384" y="1621536"/>
            <a:ext cx="4352544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219170"/>
            <a:r>
              <a:rPr sz="1467" b="1">
                <a:solidFill>
                  <a:srgbClr val="F0A500"/>
                </a:solidFill>
                <a:latin typeface="Microsoft YaHei"/>
              </a:rPr>
              <a:t>① 初始化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399775" y="1645920"/>
            <a:ext cx="1341120" cy="268224"/>
          </a:xfrm>
          <a:prstGeom prst="rect">
            <a:avLst/>
          </a:prstGeom>
          <a:solidFill>
            <a:srgbClr val="FEF3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sz="2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399775" y="1645920"/>
            <a:ext cx="1341120" cy="266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219170"/>
            <a:r>
              <a:rPr sz="1133" b="1">
                <a:solidFill>
                  <a:srgbClr val="F0A500"/>
                </a:solidFill>
                <a:latin typeface="Microsoft YaHei"/>
              </a:rPr>
              <a:t>仅一次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/>
              <p:cNvSpPr txBox="1"/>
              <p:nvPr/>
            </p:nvSpPr>
            <p:spPr>
              <a:xfrm>
                <a:off x="6120384" y="1987297"/>
                <a:ext cx="5632704" cy="4861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1219170"/>
                <a:r>
                  <a:rPr sz="1267" dirty="0">
                    <a:solidFill>
                      <a:srgbClr val="1E2A3A"/>
                    </a:solidFill>
                    <a:latin typeface="Microsoft YaHei"/>
                  </a:rPr>
                  <a:t>设定起点：</a:t>
                </a:r>
                <a14:m>
                  <m:oMath xmlns:m="http://schemas.openxmlformats.org/officeDocument/2006/math">
                    <m:r>
                      <a:rPr lang="zh-CN" altLang="en-US" sz="1267" i="1" dirty="0">
                        <a:solidFill>
                          <a:srgbClr val="1E2A3A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sz="1267" i="1" baseline="-25000" dirty="0">
                        <a:solidFill>
                          <a:srgbClr val="1E2A3A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zh-CN" altLang="en-US" sz="1267" i="1" baseline="-25000" dirty="0">
                        <a:solidFill>
                          <a:srgbClr val="1E2A3A"/>
                        </a:solidFill>
                        <a:latin typeface="Cambria Math" panose="02040503050406030204" pitchFamily="18" charset="0"/>
                      </a:rPr>
                      <m:t>：</m:t>
                    </m:r>
                    <m:r>
                      <a:rPr lang="zh-CN" altLang="en-US" sz="1267" i="1" baseline="-25000" dirty="0">
                        <a:solidFill>
                          <a:srgbClr val="1E2A3A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sz="1267" i="1" dirty="0">
                        <a:solidFill>
                          <a:srgbClr val="1E2A3A"/>
                        </a:solidFill>
                        <a:latin typeface="Cambria Math" panose="02040503050406030204" pitchFamily="18" charset="0"/>
                      </a:rPr>
                      <m:t>⁽</m:t>
                    </m:r>
                    <m:r>
                      <a:rPr lang="en-US" altLang="zh-CN" sz="1267" i="1" dirty="0">
                        <a:solidFill>
                          <a:srgbClr val="1E2A3A"/>
                        </a:solidFill>
                        <a:latin typeface="Cambria Math" panose="02040503050406030204" pitchFamily="18" charset="0"/>
                      </a:rPr>
                      <m:t>⁰</m:t>
                    </m:r>
                    <m:r>
                      <a:rPr lang="en-US" altLang="zh-CN" sz="1267" i="1" dirty="0">
                        <a:solidFill>
                          <a:srgbClr val="1E2A3A"/>
                        </a:solidFill>
                        <a:latin typeface="Cambria Math" panose="02040503050406030204" pitchFamily="18" charset="0"/>
                      </a:rPr>
                      <m:t>⁾</m:t>
                    </m:r>
                  </m:oMath>
                </a14:m>
                <a:r>
                  <a:rPr lang="zh-CN" altLang="en-US" sz="1267" dirty="0">
                    <a:solidFill>
                      <a:srgbClr val="1E2A3A"/>
                    </a:solidFill>
                    <a:latin typeface="Microsoft YaHei"/>
                    <a:ea typeface="等线" panose="02010600030101010101" pitchFamily="2" charset="-122"/>
                  </a:rPr>
                  <a:t>（用</a:t>
                </a:r>
                <a:r>
                  <a:rPr lang="en-US" altLang="zh-CN" sz="1267" dirty="0" err="1">
                    <a:solidFill>
                      <a:srgbClr val="1E2A3A"/>
                    </a:solidFill>
                    <a:latin typeface="Microsoft YaHei"/>
                    <a:ea typeface="等线" panose="02010600030101010101" pitchFamily="2" charset="-122"/>
                  </a:rPr>
                  <a:t>EpiEstim</a:t>
                </a:r>
                <a:r>
                  <a:rPr lang="zh-CN" altLang="en-US" sz="1267" dirty="0">
                    <a:solidFill>
                      <a:srgbClr val="1E2A3A"/>
                    </a:solidFill>
                    <a:latin typeface="Microsoft YaHei"/>
                    <a:ea typeface="等线" panose="02010600030101010101" pitchFamily="2" charset="-122"/>
                  </a:rPr>
                  <a:t>的）</a:t>
                </a:r>
                <a:r>
                  <a:rPr lang="en-US" sz="1267" dirty="0">
                    <a:solidFill>
                      <a:srgbClr val="1E2A3A"/>
                    </a:solidFill>
                    <a:latin typeface="Microsoft YaHei"/>
                  </a:rPr>
                  <a:t>,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267" i="1" dirty="0">
                            <a:solidFill>
                              <a:srgbClr val="1E2A3A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267" i="1" dirty="0">
                            <a:solidFill>
                              <a:srgbClr val="1E2A3A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1267" i="1" dirty="0">
                            <a:solidFill>
                              <a:srgbClr val="1E2A3A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1267" i="1" dirty="0">
                            <a:solidFill>
                              <a:srgbClr val="1E2A3A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altLang="zh-CN" sz="1267" dirty="0">
                  <a:solidFill>
                    <a:srgbClr val="1E2A3A"/>
                  </a:solidFill>
                  <a:latin typeface="Microsoft YaHei"/>
                  <a:ea typeface="等线" panose="02010600030101010101" pitchFamily="2" charset="-122"/>
                </a:endParaRPr>
              </a:p>
              <a:p>
                <a:pPr defTabSz="1219170"/>
                <a:endParaRPr sz="1267" dirty="0">
                  <a:solidFill>
                    <a:srgbClr val="1E2A3A"/>
                  </a:solidFill>
                  <a:latin typeface="Microsoft YaHei"/>
                </a:endParaRPr>
              </a:p>
            </p:txBody>
          </p:sp>
        </mc:Choice>
        <mc:Fallback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0384" y="1987297"/>
                <a:ext cx="5632704" cy="486159"/>
              </a:xfrm>
              <a:prstGeom prst="rect">
                <a:avLst/>
              </a:prstGeom>
              <a:blipFill>
                <a:blip r:embed="rId7"/>
                <a:stretch>
                  <a:fillRect l="-108" t="-12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/>
          <p:cNvSpPr txBox="1"/>
          <p:nvPr/>
        </p:nvSpPr>
        <p:spPr>
          <a:xfrm>
            <a:off x="6120384" y="2255521"/>
            <a:ext cx="5632704" cy="287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219170"/>
            <a:r>
              <a:rPr sz="1267" dirty="0" err="1">
                <a:solidFill>
                  <a:srgbClr val="1E2A3A"/>
                </a:solidFill>
                <a:latin typeface="Microsoft YaHei"/>
              </a:rPr>
              <a:t>指定初始先验参数</a:t>
            </a:r>
            <a:r>
              <a:rPr sz="1267" dirty="0">
                <a:solidFill>
                  <a:srgbClr val="1E2A3A"/>
                </a:solidFill>
                <a:latin typeface="Microsoft YaHei"/>
              </a:rPr>
              <a:t> μ₀, τ²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20384" y="2487168"/>
            <a:ext cx="48768" cy="85344"/>
          </a:xfrm>
          <a:prstGeom prst="rect">
            <a:avLst/>
          </a:prstGeom>
          <a:solidFill>
            <a:srgbClr val="D1D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sz="2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998464" y="2499359"/>
            <a:ext cx="292608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219170"/>
            <a:r>
              <a:rPr sz="1067">
                <a:solidFill>
                  <a:srgbClr val="D1D9E0"/>
                </a:solidFill>
                <a:latin typeface="Calibri"/>
              </a:rPr>
              <a:t>▼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37504" y="2657856"/>
            <a:ext cx="85344" cy="17068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sz="2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120384" y="2657856"/>
            <a:ext cx="4352544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219170"/>
            <a:r>
              <a:rPr sz="1467" b="1" dirty="0">
                <a:solidFill>
                  <a:srgbClr val="028090"/>
                </a:solidFill>
                <a:latin typeface="Microsoft YaHei"/>
              </a:rPr>
              <a:t>② Gibbs </a:t>
            </a:r>
            <a:r>
              <a:rPr sz="1467" b="1" dirty="0" err="1">
                <a:solidFill>
                  <a:srgbClr val="028090"/>
                </a:solidFill>
                <a:latin typeface="Microsoft YaHei"/>
              </a:rPr>
              <a:t>扫描：逐</a:t>
            </a:r>
            <a:r>
              <a:rPr sz="1467" b="1" dirty="0">
                <a:solidFill>
                  <a:srgbClr val="028090"/>
                </a:solidFill>
                <a:latin typeface="Microsoft YaHei"/>
              </a:rPr>
              <a:t> t </a:t>
            </a:r>
            <a:r>
              <a:rPr sz="1467" b="1" dirty="0" err="1">
                <a:solidFill>
                  <a:srgbClr val="028090"/>
                </a:solidFill>
                <a:latin typeface="Microsoft YaHei"/>
              </a:rPr>
              <a:t>更新</a:t>
            </a:r>
            <a:r>
              <a:rPr sz="1467" b="1" dirty="0">
                <a:solidFill>
                  <a:srgbClr val="028090"/>
                </a:solidFill>
                <a:latin typeface="Microsoft YaHei"/>
              </a:rPr>
              <a:t> R</a:t>
            </a:r>
            <a:r>
              <a:rPr sz="1467" b="1" baseline="-25000" dirty="0">
                <a:solidFill>
                  <a:srgbClr val="028090"/>
                </a:solidFill>
                <a:latin typeface="Microsoft YaHei"/>
              </a:rPr>
              <a:t>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399775" y="2682240"/>
            <a:ext cx="1341120" cy="268224"/>
          </a:xfrm>
          <a:prstGeom prst="rect">
            <a:avLst/>
          </a:prstGeom>
          <a:solidFill>
            <a:srgbClr val="E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sz="2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0399775" y="2682240"/>
            <a:ext cx="1341120" cy="266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219170"/>
            <a:r>
              <a:rPr sz="1133" b="1">
                <a:solidFill>
                  <a:srgbClr val="028090"/>
                </a:solidFill>
                <a:latin typeface="Microsoft YaHei"/>
              </a:rPr>
              <a:t>核心循环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20384" y="3023617"/>
            <a:ext cx="5632704" cy="287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219170"/>
            <a:r>
              <a:rPr sz="1267" dirty="0">
                <a:solidFill>
                  <a:srgbClr val="1E2A3A"/>
                </a:solidFill>
                <a:latin typeface="Microsoft YaHei"/>
              </a:rPr>
              <a:t>对 t = 1, 2, …, T  </a:t>
            </a:r>
            <a:r>
              <a:rPr sz="1267" dirty="0" err="1">
                <a:solidFill>
                  <a:srgbClr val="1E2A3A"/>
                </a:solidFill>
                <a:latin typeface="Microsoft YaHei"/>
              </a:rPr>
              <a:t>依次执行</a:t>
            </a:r>
            <a:r>
              <a:rPr sz="1267" dirty="0">
                <a:solidFill>
                  <a:srgbClr val="1E2A3A"/>
                </a:solidFill>
                <a:latin typeface="Microsoft YaHei"/>
              </a:rPr>
              <a:t> MH </a:t>
            </a:r>
            <a:r>
              <a:rPr sz="1267" dirty="0" err="1">
                <a:solidFill>
                  <a:srgbClr val="1E2A3A"/>
                </a:solidFill>
                <a:latin typeface="Microsoft YaHei"/>
              </a:rPr>
              <a:t>步骤</a:t>
            </a:r>
            <a:r>
              <a:rPr sz="1267" dirty="0">
                <a:solidFill>
                  <a:srgbClr val="1E2A3A"/>
                </a:solidFill>
                <a:latin typeface="Microsoft YaHei"/>
              </a:rPr>
              <a:t>：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/>
              <p:cNvSpPr txBox="1"/>
              <p:nvPr/>
            </p:nvSpPr>
            <p:spPr>
              <a:xfrm>
                <a:off x="6120384" y="3291840"/>
                <a:ext cx="5632704" cy="3254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1219170"/>
                <a:r>
                  <a:rPr sz="1225" dirty="0">
                    <a:solidFill>
                      <a:srgbClr val="1E2A3A"/>
                    </a:solidFill>
                    <a:latin typeface="Microsoft YaHei"/>
                  </a:rPr>
                  <a:t>  ❶ </a:t>
                </a:r>
                <a:r>
                  <a:rPr sz="1225" dirty="0" err="1">
                    <a:solidFill>
                      <a:srgbClr val="1E2A3A"/>
                    </a:solidFill>
                    <a:latin typeface="Microsoft YaHei"/>
                  </a:rPr>
                  <a:t>抽候选值：</a:t>
                </a:r>
                <a14:m>
                  <m:oMath xmlns:m="http://schemas.openxmlformats.org/officeDocument/2006/math">
                    <m:r>
                      <a:rPr lang="zh-CN" altLang="en-US" sz="1225" i="1" dirty="0">
                        <a:solidFill>
                          <a:srgbClr val="1E2A3A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zh-CN" altLang="en-US" sz="1225" i="1" baseline="-25000" dirty="0" err="1">
                        <a:solidFill>
                          <a:srgbClr val="1E2A3A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zh-CN" altLang="en-US" sz="1225" i="1" baseline="30000" dirty="0">
                        <a:solidFill>
                          <a:srgbClr val="1E2A3A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zh-CN" altLang="en-US" sz="1225" i="1" dirty="0">
                        <a:solidFill>
                          <a:srgbClr val="1E2A3A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CN" sz="1225" i="1" dirty="0">
                        <a:solidFill>
                          <a:srgbClr val="1E2A3A"/>
                        </a:solidFill>
                        <a:latin typeface="Cambria Math" panose="02040503050406030204" pitchFamily="18" charset="0"/>
                      </a:rPr>
                      <m:t>~  </m:t>
                    </m:r>
                    <m:r>
                      <a:rPr lang="zh-CN" altLang="en-US" sz="1225" i="1" dirty="0" err="1">
                        <a:solidFill>
                          <a:srgbClr val="1E2A3A"/>
                        </a:solidFill>
                        <a:latin typeface="Cambria Math" panose="02040503050406030204" pitchFamily="18" charset="0"/>
                      </a:rPr>
                      <m:t>𝐿𝑜𝑔𝑁𝑜𝑟𝑚𝑎𝑙</m:t>
                    </m:r>
                    <m:r>
                      <a:rPr lang="en-US" altLang="zh-CN" sz="1225" i="1" dirty="0">
                        <a:solidFill>
                          <a:srgbClr val="1E2A3A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1225" i="1" dirty="0" err="1">
                        <a:solidFill>
                          <a:srgbClr val="1E2A3A"/>
                        </a:solidFill>
                        <a:latin typeface="Cambria Math" panose="02040503050406030204" pitchFamily="18" charset="0"/>
                      </a:rPr>
                      <m:t>𝑙𝑜𝑔</m:t>
                    </m:r>
                    <m:sSubSup>
                      <m:sSubSupPr>
                        <m:ctrlPr>
                          <a:rPr lang="en-US" altLang="zh-CN" sz="1225" i="1" dirty="0">
                            <a:solidFill>
                              <a:srgbClr val="1E2A3A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225" i="1" dirty="0">
                            <a:solidFill>
                              <a:srgbClr val="1E2A3A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1225" i="1" dirty="0">
                            <a:solidFill>
                              <a:srgbClr val="1E2A3A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d>
                          <m:dPr>
                            <m:ctrlPr>
                              <a:rPr lang="en-US" altLang="zh-CN" sz="1225" i="1" dirty="0">
                                <a:solidFill>
                                  <a:srgbClr val="1E2A3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225" i="1" dirty="0">
                                <a:solidFill>
                                  <a:srgbClr val="1E2A3A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1225" i="1" dirty="0">
                                <a:solidFill>
                                  <a:srgbClr val="1E2A3A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1225" i="1" dirty="0">
                                <a:solidFill>
                                  <a:srgbClr val="1E2A3A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bSup>
                    <m:r>
                      <a:rPr lang="en-US" altLang="zh-CN" sz="1225" i="1" dirty="0">
                        <a:solidFill>
                          <a:srgbClr val="1E2A3A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1225" i="1" dirty="0">
                        <a:solidFill>
                          <a:srgbClr val="1E2A3A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altLang="zh-CN" sz="1225" i="1" dirty="0">
                        <a:solidFill>
                          <a:srgbClr val="1E2A3A"/>
                        </a:solidFill>
                        <a:latin typeface="Cambria Math" panose="02040503050406030204" pitchFamily="18" charset="0"/>
                      </a:rPr>
                      <m:t>²</m:t>
                    </m:r>
                    <m:r>
                      <a:rPr lang="en-US" altLang="zh-CN" sz="1225" i="1" dirty="0">
                        <a:solidFill>
                          <a:srgbClr val="1E2A3A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1225" dirty="0">
                  <a:solidFill>
                    <a:srgbClr val="1E2A3A"/>
                  </a:solidFill>
                  <a:latin typeface="Microsoft YaHei"/>
                </a:endParaRPr>
              </a:p>
            </p:txBody>
          </p:sp>
        </mc:Choice>
        <mc:Fallback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0384" y="3291840"/>
                <a:ext cx="5632704" cy="325474"/>
              </a:xfrm>
              <a:prstGeom prst="rect">
                <a:avLst/>
              </a:prstGeom>
              <a:blipFill>
                <a:blip r:embed="rId8"/>
                <a:stretch>
                  <a:fillRect b="-132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/>
          <p:cNvSpPr txBox="1"/>
          <p:nvPr/>
        </p:nvSpPr>
        <p:spPr>
          <a:xfrm>
            <a:off x="6120384" y="3560064"/>
            <a:ext cx="5632704" cy="2808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219170"/>
            <a:r>
              <a:rPr sz="1225" dirty="0">
                <a:solidFill>
                  <a:srgbClr val="1E2A3A"/>
                </a:solidFill>
                <a:latin typeface="Microsoft YaHei"/>
              </a:rPr>
              <a:t>  ❷ </a:t>
            </a:r>
            <a:r>
              <a:rPr sz="1225" dirty="0" err="1">
                <a:solidFill>
                  <a:srgbClr val="1E2A3A"/>
                </a:solidFill>
                <a:latin typeface="Microsoft YaHei"/>
              </a:rPr>
              <a:t>对数接受概率（含建议分布非对称补偿项</a:t>
            </a:r>
            <a:r>
              <a:rPr sz="1225" dirty="0">
                <a:solidFill>
                  <a:srgbClr val="1E2A3A"/>
                </a:solidFill>
                <a:latin typeface="Microsoft YaHei"/>
              </a:rPr>
              <a:t>）：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/>
              <p:cNvSpPr txBox="1"/>
              <p:nvPr/>
            </p:nvSpPr>
            <p:spPr>
              <a:xfrm>
                <a:off x="6120384" y="3828288"/>
                <a:ext cx="5632704" cy="315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1219170"/>
                <a:r>
                  <a:rPr sz="1173" i="1" dirty="0">
                    <a:solidFill>
                      <a:srgbClr val="1E2A3A"/>
                    </a:solidFill>
                    <a:latin typeface="Calibri"/>
                  </a:rPr>
                  <a:t>      </a:t>
                </a:r>
                <a14:m>
                  <m:oMath xmlns:m="http://schemas.openxmlformats.org/officeDocument/2006/math">
                    <m:r>
                      <a:rPr lang="en-US" sz="1173" i="1" dirty="0">
                        <a:solidFill>
                          <a:srgbClr val="1E2A3A"/>
                        </a:solidFill>
                        <a:latin typeface="Cambria Math" panose="02040503050406030204" pitchFamily="18" charset="0"/>
                      </a:rPr>
                      <m:t>𝑙𝑜𝑔</m:t>
                    </m:r>
                    <m:r>
                      <a:rPr lang="en-US" sz="1173" i="1" dirty="0">
                        <a:solidFill>
                          <a:srgbClr val="1E2A3A"/>
                        </a:solidFill>
                        <a:latin typeface="Cambria Math" panose="02040503050406030204" pitchFamily="18" charset="0"/>
                      </a:rPr>
                      <m:t>⁡</m:t>
                    </m:r>
                    <m:r>
                      <a:rPr lang="en-US" sz="1173" i="1" dirty="0">
                        <a:solidFill>
                          <a:srgbClr val="1E2A3A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173" i="1" dirty="0">
                        <a:solidFill>
                          <a:srgbClr val="1E2A3A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1173" i="1" dirty="0">
                        <a:solidFill>
                          <a:srgbClr val="1E2A3A"/>
                        </a:solidFill>
                        <a:latin typeface="Cambria Math" panose="02040503050406030204" pitchFamily="18" charset="0"/>
                      </a:rPr>
                      <m:t>𝑚𝑖𝑛</m:t>
                    </m:r>
                    <m:r>
                      <a:rPr lang="en-US" sz="1173" i="1" dirty="0">
                        <a:solidFill>
                          <a:srgbClr val="1E2A3A"/>
                        </a:solidFill>
                        <a:latin typeface="Cambria Math" panose="02040503050406030204" pitchFamily="18" charset="0"/>
                      </a:rPr>
                      <m:t>⁡{</m:t>
                    </m:r>
                    <m:r>
                      <a:rPr lang="en-US" sz="1173" i="1" dirty="0">
                        <a:solidFill>
                          <a:srgbClr val="1E2A3A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173" i="1" dirty="0">
                        <a:solidFill>
                          <a:srgbClr val="1E2A3A"/>
                        </a:solidFill>
                        <a:latin typeface="Cambria Math" panose="02040503050406030204" pitchFamily="18" charset="0"/>
                      </a:rPr>
                      <m:t>, [</m:t>
                    </m:r>
                    <m:r>
                      <a:rPr lang="en-US" sz="1173" i="1" dirty="0">
                        <a:solidFill>
                          <a:srgbClr val="1E2A3A"/>
                        </a:solidFill>
                        <a:latin typeface="Cambria Math" panose="02040503050406030204" pitchFamily="18" charset="0"/>
                      </a:rPr>
                      <m:t>𝑙𝑜𝑔</m:t>
                    </m:r>
                    <m:r>
                      <a:rPr lang="en-US" sz="1173" i="1" dirty="0">
                        <a:solidFill>
                          <a:srgbClr val="1E2A3A"/>
                        </a:solidFill>
                        <a:latin typeface="Cambria Math" panose="02040503050406030204" pitchFamily="18" charset="0"/>
                      </a:rPr>
                      <m:t>⁡</m:t>
                    </m:r>
                    <m:r>
                      <a:rPr lang="en-US" sz="1173" i="1" dirty="0">
                        <a:solidFill>
                          <a:srgbClr val="1E2A3A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sz="1173" i="1" dirty="0">
                        <a:solidFill>
                          <a:srgbClr val="1E2A3A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sz="1173" i="1" dirty="0">
                            <a:solidFill>
                              <a:srgbClr val="1E2A3A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173" i="1" dirty="0">
                            <a:solidFill>
                              <a:srgbClr val="1E2A3A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173" i="1" dirty="0">
                            <a:solidFill>
                              <a:srgbClr val="1E2A3A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1173" i="1" dirty="0">
                            <a:solidFill>
                              <a:srgbClr val="1E2A3A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sz="1173" i="1" dirty="0">
                        <a:solidFill>
                          <a:srgbClr val="1E2A3A"/>
                        </a:solidFill>
                        <a:latin typeface="Cambria Math" panose="02040503050406030204" pitchFamily="18" charset="0"/>
                      </a:rPr>
                      <m:t>|·) − </m:t>
                    </m:r>
                    <m:r>
                      <a:rPr lang="en-US" sz="1173" i="1" dirty="0">
                        <a:solidFill>
                          <a:srgbClr val="1E2A3A"/>
                        </a:solidFill>
                        <a:latin typeface="Cambria Math" panose="02040503050406030204" pitchFamily="18" charset="0"/>
                      </a:rPr>
                      <m:t>𝑙𝑜𝑔</m:t>
                    </m:r>
                    <m:r>
                      <a:rPr lang="en-US" sz="1173" i="1" dirty="0">
                        <a:solidFill>
                          <a:srgbClr val="1E2A3A"/>
                        </a:solidFill>
                        <a:latin typeface="Cambria Math" panose="02040503050406030204" pitchFamily="18" charset="0"/>
                      </a:rPr>
                      <m:t>⁡</m:t>
                    </m:r>
                    <m:r>
                      <a:rPr lang="en-US" sz="1173" i="1" dirty="0">
                        <a:solidFill>
                          <a:srgbClr val="1E2A3A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sz="1173" i="1" dirty="0">
                        <a:solidFill>
                          <a:srgbClr val="1E2A3A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sz="1173" i="1" dirty="0">
                            <a:solidFill>
                              <a:srgbClr val="1E2A3A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173" i="1" dirty="0">
                            <a:solidFill>
                              <a:srgbClr val="1E2A3A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173" i="1" dirty="0">
                            <a:solidFill>
                              <a:srgbClr val="1E2A3A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d>
                          <m:dPr>
                            <m:ctrlPr>
                              <a:rPr lang="en-US" sz="1173" i="1" dirty="0">
                                <a:solidFill>
                                  <a:srgbClr val="1E2A3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73" i="1" dirty="0">
                                <a:solidFill>
                                  <a:srgbClr val="1E2A3A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1173" i="1" dirty="0">
                                <a:solidFill>
                                  <a:srgbClr val="1E2A3A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73" i="1" dirty="0">
                                <a:solidFill>
                                  <a:srgbClr val="1E2A3A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bSup>
                    <m:r>
                      <a:rPr lang="en-US" sz="1173" i="1" dirty="0">
                        <a:solidFill>
                          <a:srgbClr val="1E2A3A"/>
                        </a:solidFill>
                        <a:latin typeface="Cambria Math" panose="02040503050406030204" pitchFamily="18" charset="0"/>
                      </a:rPr>
                      <m:t>|·)] + </m:t>
                    </m:r>
                    <m:r>
                      <m:rPr>
                        <m:sty m:val="p"/>
                      </m:rPr>
                      <a:rPr lang="en-US" sz="1173" i="1" dirty="0">
                        <a:solidFill>
                          <a:srgbClr val="1E2A3A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1173" i="1" dirty="0">
                        <a:solidFill>
                          <a:srgbClr val="1E2A3A"/>
                        </a:solidFill>
                        <a:latin typeface="Cambria Math" panose="02040503050406030204" pitchFamily="18" charset="0"/>
                      </a:rPr>
                      <m:t>⁡</m:t>
                    </m:r>
                    <m:sSubSup>
                      <m:sSubSupPr>
                        <m:ctrlPr>
                          <a:rPr lang="en-US" sz="1173" i="1" dirty="0">
                            <a:solidFill>
                              <a:srgbClr val="1E2A3A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173" i="1" dirty="0">
                            <a:solidFill>
                              <a:srgbClr val="1E2A3A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173" i="1" dirty="0">
                            <a:solidFill>
                              <a:srgbClr val="1E2A3A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1173" i="1" dirty="0">
                            <a:solidFill>
                              <a:srgbClr val="1E2A3A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zh-CN" sz="1173" i="1" dirty="0">
                        <a:solidFill>
                          <a:srgbClr val="1E2A3A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173" i="1" dirty="0">
                        <a:solidFill>
                          <a:srgbClr val="1E2A3A"/>
                        </a:solidFill>
                        <a:latin typeface="Cambria Math" panose="02040503050406030204" pitchFamily="18" charset="0"/>
                      </a:rPr>
                      <m:t>𝑙𝑜𝑔</m:t>
                    </m:r>
                    <m:sSubSup>
                      <m:sSubSupPr>
                        <m:ctrlPr>
                          <a:rPr lang="en-US" sz="1173" i="1" dirty="0">
                            <a:solidFill>
                              <a:srgbClr val="1E2A3A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173" i="1" dirty="0">
                            <a:solidFill>
                              <a:srgbClr val="1E2A3A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173" i="1" dirty="0">
                            <a:solidFill>
                              <a:srgbClr val="1E2A3A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d>
                          <m:dPr>
                            <m:ctrlPr>
                              <a:rPr lang="en-US" sz="1173" i="1" dirty="0">
                                <a:solidFill>
                                  <a:srgbClr val="1E2A3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73" i="1" dirty="0">
                                <a:solidFill>
                                  <a:srgbClr val="1E2A3A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1173" i="1" dirty="0">
                                <a:solidFill>
                                  <a:srgbClr val="1E2A3A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73" i="1" dirty="0">
                                <a:solidFill>
                                  <a:srgbClr val="1E2A3A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bSup>
                    <m:r>
                      <a:rPr lang="en-US" sz="1173" i="1" dirty="0">
                        <a:solidFill>
                          <a:srgbClr val="1E2A3A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sz="1173" i="1" dirty="0">
                  <a:solidFill>
                    <a:srgbClr val="1E2A3A"/>
                  </a:solidFill>
                  <a:latin typeface="Calibri"/>
                </a:endParaRPr>
              </a:p>
            </p:txBody>
          </p:sp>
        </mc:Choice>
        <mc:Fallback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0384" y="3828288"/>
                <a:ext cx="5632704" cy="315664"/>
              </a:xfrm>
              <a:prstGeom prst="rect">
                <a:avLst/>
              </a:prstGeom>
              <a:blipFill>
                <a:blip r:embed="rId9"/>
                <a:stretch>
                  <a:fillRect b="-96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/>
              <p:cNvSpPr txBox="1"/>
              <p:nvPr/>
            </p:nvSpPr>
            <p:spPr>
              <a:xfrm>
                <a:off x="6120384" y="4364736"/>
                <a:ext cx="5632704" cy="2808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1219170"/>
                <a:r>
                  <a:rPr sz="1225" dirty="0">
                    <a:solidFill>
                      <a:srgbClr val="1E2A3A"/>
                    </a:solidFill>
                    <a:latin typeface="Microsoft YaHei"/>
                  </a:rPr>
                  <a:t>  ❸ 抽 </a:t>
                </a:r>
                <a14:m>
                  <m:oMath xmlns:m="http://schemas.openxmlformats.org/officeDocument/2006/math">
                    <m:r>
                      <a:rPr lang="en-US" sz="1225" i="1" dirty="0">
                        <a:solidFill>
                          <a:srgbClr val="1E2A3A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1225" i="1" dirty="0">
                        <a:solidFill>
                          <a:srgbClr val="1E2A3A"/>
                        </a:solidFill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1225" i="1" dirty="0" err="1">
                        <a:solidFill>
                          <a:srgbClr val="1E2A3A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1225" i="1" dirty="0">
                        <a:solidFill>
                          <a:srgbClr val="1E2A3A"/>
                        </a:solidFill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sz="1225" i="1" dirty="0">
                        <a:solidFill>
                          <a:srgbClr val="1E2A3A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225" i="1" dirty="0">
                        <a:solidFill>
                          <a:srgbClr val="1E2A3A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225" i="1" dirty="0">
                        <a:solidFill>
                          <a:srgbClr val="1E2A3A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225" i="1" dirty="0">
                        <a:solidFill>
                          <a:srgbClr val="1E2A3A"/>
                        </a:solidFill>
                        <a:latin typeface="Cambria Math" panose="02040503050406030204" pitchFamily="18" charset="0"/>
                      </a:rPr>
                      <m:t>)：</m:t>
                    </m:r>
                    <m:r>
                      <m:rPr>
                        <m:sty m:val="p"/>
                      </m:rPr>
                      <a:rPr lang="en-US" sz="1225" i="1" dirty="0">
                        <a:solidFill>
                          <a:srgbClr val="1E2A3A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1225" i="1" dirty="0">
                        <a:solidFill>
                          <a:srgbClr val="1E2A3A"/>
                        </a:solidFill>
                        <a:latin typeface="Cambria Math" panose="02040503050406030204" pitchFamily="18" charset="0"/>
                      </a:rPr>
                      <m:t>⁡</m:t>
                    </m:r>
                    <m:r>
                      <a:rPr lang="en-US" sz="1225" i="1" dirty="0">
                        <a:solidFill>
                          <a:srgbClr val="1E2A3A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1225" i="1" dirty="0">
                        <a:solidFill>
                          <a:srgbClr val="1E2A3A"/>
                        </a:solidFill>
                        <a:latin typeface="Cambria Math" panose="02040503050406030204" pitchFamily="18" charset="0"/>
                      </a:rPr>
                      <m:t> &lt; </m:t>
                    </m:r>
                    <m:r>
                      <m:rPr>
                        <m:sty m:val="p"/>
                      </m:rPr>
                      <a:rPr lang="en-US" sz="1225" i="1" dirty="0">
                        <a:solidFill>
                          <a:srgbClr val="1E2A3A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1225" i="1" dirty="0">
                        <a:solidFill>
                          <a:srgbClr val="1E2A3A"/>
                        </a:solidFill>
                        <a:latin typeface="Cambria Math" panose="02040503050406030204" pitchFamily="18" charset="0"/>
                      </a:rPr>
                      <m:t>⁡</m:t>
                    </m:r>
                    <m:r>
                      <a:rPr lang="en-US" sz="1225" i="1" dirty="0">
                        <a:solidFill>
                          <a:srgbClr val="1E2A3A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225" i="1" dirty="0">
                        <a:solidFill>
                          <a:srgbClr val="1E2A3A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1225" dirty="0" err="1">
                    <a:solidFill>
                      <a:srgbClr val="1E2A3A"/>
                    </a:solidFill>
                    <a:latin typeface="Microsoft YaHei"/>
                  </a:rPr>
                  <a:t>则接受，否则保留</a:t>
                </a:r>
                <a:endParaRPr sz="1225" dirty="0">
                  <a:solidFill>
                    <a:srgbClr val="1E2A3A"/>
                  </a:solidFill>
                  <a:latin typeface="Microsoft YaHei"/>
                </a:endParaRPr>
              </a:p>
            </p:txBody>
          </p:sp>
        </mc:Choice>
        <mc:Fallback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0384" y="4364736"/>
                <a:ext cx="5632704" cy="280846"/>
              </a:xfrm>
              <a:prstGeom prst="rect">
                <a:avLst/>
              </a:prstGeom>
              <a:blipFill>
                <a:blip r:embed="rId10"/>
                <a:stretch>
                  <a:fillRect l="-108" t="-2174" b="-173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Rectangle 51"/>
          <p:cNvSpPr/>
          <p:nvPr/>
        </p:nvSpPr>
        <p:spPr>
          <a:xfrm>
            <a:off x="6120384" y="4437888"/>
            <a:ext cx="48768" cy="85344"/>
          </a:xfrm>
          <a:prstGeom prst="rect">
            <a:avLst/>
          </a:prstGeom>
          <a:solidFill>
            <a:srgbClr val="D1D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sz="2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5998464" y="4450081"/>
            <a:ext cx="292608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219170"/>
            <a:r>
              <a:rPr sz="1067">
                <a:solidFill>
                  <a:srgbClr val="D1D9E0"/>
                </a:solidFill>
                <a:latin typeface="Calibri"/>
              </a:rPr>
              <a:t>▼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937504" y="4608576"/>
            <a:ext cx="85344" cy="792480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sz="2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6120384" y="4608576"/>
            <a:ext cx="4352544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219170"/>
            <a:r>
              <a:rPr sz="1467" b="1" dirty="0">
                <a:solidFill>
                  <a:srgbClr val="5C6BC0"/>
                </a:solidFill>
                <a:latin typeface="Microsoft YaHei"/>
              </a:rPr>
              <a:t>③ Gibbs </a:t>
            </a:r>
            <a:r>
              <a:rPr sz="1467" b="1" dirty="0" err="1">
                <a:solidFill>
                  <a:srgbClr val="5C6BC0"/>
                </a:solidFill>
                <a:latin typeface="Microsoft YaHei"/>
              </a:rPr>
              <a:t>扫描：共轭更新</a:t>
            </a:r>
            <a:r>
              <a:rPr sz="1467" b="1" dirty="0">
                <a:solidFill>
                  <a:srgbClr val="5C6BC0"/>
                </a:solidFill>
                <a:latin typeface="Microsoft YaHei"/>
              </a:rPr>
              <a:t> σ²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399775" y="4632960"/>
            <a:ext cx="1341120" cy="268224"/>
          </a:xfrm>
          <a:prstGeom prst="rect">
            <a:avLst/>
          </a:prstGeom>
          <a:solidFill>
            <a:srgbClr val="EE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sz="2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0399775" y="4632960"/>
            <a:ext cx="1341120" cy="266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219170"/>
            <a:r>
              <a:rPr sz="1133" b="1" dirty="0" err="1">
                <a:solidFill>
                  <a:srgbClr val="5C6BC0"/>
                </a:solidFill>
                <a:latin typeface="Microsoft YaHei"/>
              </a:rPr>
              <a:t>直接采样</a:t>
            </a:r>
            <a:endParaRPr sz="1133" b="1" dirty="0">
              <a:solidFill>
                <a:srgbClr val="5C6BC0"/>
              </a:solidFill>
              <a:latin typeface="Microsoft YaHe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Box 57"/>
              <p:cNvSpPr txBox="1"/>
              <p:nvPr/>
            </p:nvSpPr>
            <p:spPr>
              <a:xfrm>
                <a:off x="6120384" y="4974336"/>
                <a:ext cx="5632704" cy="7091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1219170"/>
                <a14:m>
                  <m:oMath xmlns:m="http://schemas.openxmlformats.org/officeDocument/2006/math">
                    <m:r>
                      <a:rPr lang="zh-CN" altLang="en-US" sz="1267" i="1" dirty="0">
                        <a:solidFill>
                          <a:srgbClr val="1E2A3A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CN" sz="1267" i="1" dirty="0">
                        <a:solidFill>
                          <a:srgbClr val="1E2A3A"/>
                        </a:solidFill>
                        <a:latin typeface="Cambria Math" panose="02040503050406030204" pitchFamily="18" charset="0"/>
                      </a:rPr>
                      <m:t>²</m:t>
                    </m:r>
                  </m:oMath>
                </a14:m>
                <a:r>
                  <a:rPr sz="1267" dirty="0">
                    <a:solidFill>
                      <a:srgbClr val="1E2A3A"/>
                    </a:solidFill>
                    <a:latin typeface="Microsoft YaHei"/>
                  </a:rPr>
                  <a:t> 全条件后验</a:t>
                </a:r>
                <a:r>
                  <a:rPr lang="zh-CN" altLang="en-US" sz="1267" dirty="0">
                    <a:solidFill>
                      <a:srgbClr val="1E2A3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分布</a:t>
                </a:r>
                <a:r>
                  <a:rPr sz="1267" dirty="0">
                    <a:solidFill>
                      <a:srgbClr val="1E2A3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</a:t>
                </a:r>
                <a:r>
                  <a:rPr lang="zh-CN" altLang="en-US" sz="1267" dirty="0">
                    <a:solidFill>
                      <a:srgbClr val="1E2A3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逆伽马分布，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333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333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1333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altLang="zh-CN" sz="1333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sz="1333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en-US" altLang="zh-CN" sz="1333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333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1333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1333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altLang="zh-CN" sz="1333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altLang="zh-CN" sz="1333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nor/>
                      </m:rPr>
                      <a:rPr lang="en-US" altLang="zh-CN" sz="1333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</a:rPr>
                      <m:t>Inv</m:t>
                    </m:r>
                    <m:r>
                      <m:rPr>
                        <m:nor/>
                      </m:rPr>
                      <a:rPr lang="en-US" altLang="zh-CN" sz="1333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</a:rPr>
                      <m:t>−</m:t>
                    </m:r>
                    <m:r>
                      <m:rPr>
                        <m:nor/>
                      </m:rPr>
                      <a:rPr lang="en-US" altLang="zh-CN" sz="1333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</a:rPr>
                      <m:t>Gamma</m:t>
                    </m:r>
                    <m:d>
                      <m:dPr>
                        <m:ctrlPr>
                          <a:rPr lang="en-US" altLang="zh-CN" sz="1333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333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333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333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1333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CN" sz="1333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333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altLang="zh-CN" sz="1333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1333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333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1333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, </m:t>
                        </m:r>
                        <m:sSub>
                          <m:sSubPr>
                            <m:ctrlPr>
                              <a:rPr lang="en-US" altLang="zh-CN" sz="1333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333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1333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1333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CN" sz="1333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333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333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en-US" altLang="zh-CN" sz="1333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sz="1333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1333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1333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1333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altLang="zh-CN" sz="1333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CN" sz="1333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unc>
                                      <m:funcPr>
                                        <m:ctrlPr>
                                          <a:rPr lang="en-US" altLang="zh-CN" sz="1333" i="1" dirty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1333" dirty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sSubSup>
                                          <m:sSubSupPr>
                                            <m:ctrlPr>
                                              <a:rPr lang="en-US" altLang="zh-CN" sz="1333" i="1" dirty="0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zh-CN" sz="1333" i="1" dirty="0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𝑅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1333" i="1" dirty="0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zh-CN" sz="1333" i="1" dirty="0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p>
                                        </m:sSubSup>
                                      </m:e>
                                    </m:func>
                                    <m:r>
                                      <a:rPr lang="en-US" altLang="zh-CN" sz="1333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unc>
                                      <m:funcPr>
                                        <m:ctrlPr>
                                          <a:rPr lang="en-US" altLang="zh-CN" sz="1333" i="1" dirty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1333" dirty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sSubSup>
                                          <m:sSubSupPr>
                                            <m:ctrlPr>
                                              <a:rPr lang="en-US" altLang="zh-CN" sz="1333" i="1" dirty="0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zh-CN" sz="1333" i="1" dirty="0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𝑅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1333" i="1" dirty="0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  <m:r>
                                              <a:rPr lang="en-US" altLang="zh-CN" sz="1333" i="1" dirty="0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en-US" altLang="zh-CN" sz="1333" i="1" dirty="0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zh-CN" sz="1333" i="1" dirty="0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p>
                                        </m:sSubSup>
                                      </m:e>
                                    </m:func>
                                  </m:e>
                                </m:d>
                              </m:e>
                              <m:sup>
                                <m:r>
                                  <a:rPr lang="en-US" altLang="zh-CN" sz="1333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d>
                  </m:oMath>
                </a14:m>
                <a:endParaRPr lang="en-US" altLang="zh-CN" sz="1267" dirty="0">
                  <a:solidFill>
                    <a:srgbClr val="1E2A3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0384" y="4974336"/>
                <a:ext cx="5632704" cy="709105"/>
              </a:xfrm>
              <a:prstGeom prst="rect">
                <a:avLst/>
              </a:prstGeom>
              <a:blipFill>
                <a:blip r:embed="rId11"/>
                <a:stretch>
                  <a:fillRect t="-91379" b="-1362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Rectangle 59"/>
          <p:cNvSpPr/>
          <p:nvPr/>
        </p:nvSpPr>
        <p:spPr>
          <a:xfrm>
            <a:off x="6120384" y="5474208"/>
            <a:ext cx="48768" cy="85344"/>
          </a:xfrm>
          <a:prstGeom prst="rect">
            <a:avLst/>
          </a:prstGeom>
          <a:solidFill>
            <a:srgbClr val="D1D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sz="2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5998464" y="5486401"/>
            <a:ext cx="292608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219170"/>
            <a:r>
              <a:rPr sz="1067">
                <a:solidFill>
                  <a:srgbClr val="D1D9E0"/>
                </a:solidFill>
                <a:latin typeface="Calibri"/>
              </a:rPr>
              <a:t>▼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937504" y="5644896"/>
            <a:ext cx="85344" cy="792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sz="2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120384" y="5644896"/>
            <a:ext cx="4352544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219170"/>
            <a:r>
              <a:rPr sz="1467" b="1">
                <a:solidFill>
                  <a:srgbClr val="27AE60"/>
                </a:solidFill>
                <a:latin typeface="Microsoft YaHei"/>
              </a:rPr>
              <a:t>④ 收敛诊断 &amp; 结果输出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399775" y="5669280"/>
            <a:ext cx="1341120" cy="268224"/>
          </a:xfrm>
          <a:prstGeom prst="rect">
            <a:avLst/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sz="2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0399775" y="5669280"/>
            <a:ext cx="1341120" cy="266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219170"/>
            <a:r>
              <a:rPr lang="zh-CN" altLang="en-US" sz="1133" b="1" dirty="0">
                <a:solidFill>
                  <a:srgbClr val="27AE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诊断输出</a:t>
            </a:r>
            <a:endParaRPr sz="1133" b="1" dirty="0">
              <a:solidFill>
                <a:srgbClr val="27AE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120384" y="6010656"/>
            <a:ext cx="5632704" cy="287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219170"/>
            <a:r>
              <a:rPr sz="1267" dirty="0" err="1">
                <a:solidFill>
                  <a:srgbClr val="1E2A3A"/>
                </a:solidFill>
                <a:latin typeface="Microsoft YaHei"/>
              </a:rPr>
              <a:t>丢弃预热期样本</a:t>
            </a:r>
            <a:r>
              <a:rPr lang="zh-CN" altLang="en-US" sz="1267" dirty="0">
                <a:solidFill>
                  <a:srgbClr val="1E2A3A"/>
                </a:solidFill>
                <a:latin typeface="Microsoft YaHei"/>
                <a:ea typeface="等线" panose="02010600030101010101" pitchFamily="2" charset="-122"/>
              </a:rPr>
              <a:t>；</a:t>
            </a:r>
            <a:r>
              <a:rPr sz="1267" dirty="0" err="1">
                <a:solidFill>
                  <a:srgbClr val="1E2A3A"/>
                </a:solidFill>
                <a:latin typeface="Microsoft YaHei"/>
              </a:rPr>
              <a:t>计算</a:t>
            </a:r>
            <a:r>
              <a:rPr sz="1267" dirty="0">
                <a:solidFill>
                  <a:srgbClr val="1E2A3A"/>
                </a:solidFill>
                <a:latin typeface="Microsoft YaHei"/>
              </a:rPr>
              <a:t> Gelman-Rubin </a:t>
            </a:r>
            <a:r>
              <a:rPr sz="1267" dirty="0" err="1">
                <a:solidFill>
                  <a:srgbClr val="1E2A3A"/>
                </a:solidFill>
                <a:latin typeface="Microsoft YaHei"/>
              </a:rPr>
              <a:t>统计量</a:t>
            </a:r>
            <a:r>
              <a:rPr lang="zh-CN" altLang="en-US" sz="1267" dirty="0">
                <a:solidFill>
                  <a:srgbClr val="1E2A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等查证是否稳态</a:t>
            </a:r>
            <a:endParaRPr sz="1267" dirty="0">
              <a:solidFill>
                <a:srgbClr val="1E2A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7" name="TextBox 66"/>
              <p:cNvSpPr txBox="1"/>
              <p:nvPr/>
            </p:nvSpPr>
            <p:spPr>
              <a:xfrm>
                <a:off x="6120384" y="6278881"/>
                <a:ext cx="5632704" cy="2925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1219170"/>
                <a:r>
                  <a:rPr sz="1267" dirty="0" err="1">
                    <a:solidFill>
                      <a:srgbClr val="1E2A3A"/>
                    </a:solidFill>
                    <a:latin typeface="Microsoft YaHei"/>
                  </a:rPr>
                  <a:t>后验均值</a:t>
                </a:r>
                <a:r>
                  <a:rPr sz="1267" dirty="0">
                    <a:solidFill>
                      <a:srgbClr val="1E2A3A"/>
                    </a:solidFill>
                    <a:latin typeface="Microsoft YaHei"/>
                  </a:rPr>
                  <a:t>：</a:t>
                </a:r>
                <a:r>
                  <a:rPr lang="zh-CN" altLang="en-US" sz="1267" dirty="0">
                    <a:solidFill>
                      <a:srgbClr val="1E2A3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求得均值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sz="1267" i="1" dirty="0">
                            <a:solidFill>
                              <a:srgbClr val="1E2A3A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1267" i="1" dirty="0">
                            <a:solidFill>
                              <a:srgbClr val="1E2A3A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𝑅</m:t>
                        </m:r>
                      </m:e>
                    </m:acc>
                  </m:oMath>
                </a14:m>
                <a:endParaRPr sz="1267" dirty="0">
                  <a:solidFill>
                    <a:srgbClr val="1E2A3A"/>
                  </a:solidFill>
                  <a:latin typeface="Microsoft YaHei"/>
                </a:endParaRPr>
              </a:p>
            </p:txBody>
          </p:sp>
        </mc:Choice>
        <mc:Fallback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0384" y="6278881"/>
                <a:ext cx="5632704" cy="292581"/>
              </a:xfrm>
              <a:prstGeom prst="rect">
                <a:avLst/>
              </a:prstGeom>
              <a:blipFill>
                <a:blip r:embed="rId12"/>
                <a:stretch>
                  <a:fillRect l="-108" b="-145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TextBox 69"/>
          <p:cNvSpPr txBox="1"/>
          <p:nvPr/>
        </p:nvSpPr>
        <p:spPr>
          <a:xfrm>
            <a:off x="10728960" y="6559297"/>
            <a:ext cx="1341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1219170"/>
            <a:r>
              <a:rPr sz="1200">
                <a:solidFill>
                  <a:srgbClr val="64748B"/>
                </a:solidFill>
                <a:latin typeface="Calibri"/>
              </a:rPr>
              <a:t>4 / 10</a:t>
            </a:r>
          </a:p>
        </p:txBody>
      </p:sp>
    </p:spTree>
    <p:extLst>
      <p:ext uri="{BB962C8B-B14F-4D97-AF65-F5344CB8AC3E}">
        <p14:creationId xmlns:p14="http://schemas.microsoft.com/office/powerpoint/2010/main" val="22305069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260</Words>
  <Application>Microsoft Office PowerPoint</Application>
  <PresentationFormat>宽屏</PresentationFormat>
  <Paragraphs>39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微软雅黑</vt:lpstr>
      <vt:lpstr>微软雅黑</vt:lpstr>
      <vt:lpstr>Arial</vt:lpstr>
      <vt:lpstr>Calibri</vt:lpstr>
      <vt:lpstr>Cambria Math</vt:lpstr>
      <vt:lpstr>Office 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朱政</dc:creator>
  <cp:lastModifiedBy>政 朱</cp:lastModifiedBy>
  <cp:revision>5</cp:revision>
  <dcterms:created xsi:type="dcterms:W3CDTF">2023-08-09T12:44:00Z</dcterms:created>
  <dcterms:modified xsi:type="dcterms:W3CDTF">2026-03-27T02:57:21Z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